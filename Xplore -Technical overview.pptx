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81" r:id="rId6"/>
    <p:sldId id="260" r:id="rId7"/>
    <p:sldId id="261" r:id="rId8"/>
    <p:sldId id="262" r:id="rId9"/>
    <p:sldId id="263" r:id="rId10"/>
    <p:sldId id="282" r:id="rId11"/>
    <p:sldId id="264" r:id="rId12"/>
    <p:sldId id="265" r:id="rId13"/>
    <p:sldId id="266" r:id="rId14"/>
    <p:sldId id="267" r:id="rId15"/>
    <p:sldId id="283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1"/>
      <p:bold r:id="rId32"/>
      <p:italic r:id="rId33"/>
      <p:boldItalic r:id="rId34"/>
    </p:embeddedFont>
    <p:embeddedFont>
      <p:font typeface="Inter" panose="020B0604020202020204" charset="0"/>
      <p:regular r:id="rId35"/>
      <p:bold r:id="rId36"/>
      <p:italic r:id="rId37"/>
      <p:boldItalic r:id="rId38"/>
    </p:embeddedFont>
    <p:embeddedFont>
      <p:font typeface="Inter Medium" panose="020B0604020202020204" charset="0"/>
      <p:regular r:id="rId39"/>
      <p:bold r:id="rId40"/>
      <p:italic r:id="rId41"/>
      <p:boldItalic r:id="rId42"/>
    </p:embeddedFont>
    <p:embeddedFont>
      <p:font typeface="Inter SemiBold" panose="020B0604020202020204" charset="0"/>
      <p:regular r:id="rId43"/>
      <p:bold r:id="rId44"/>
      <p:italic r:id="rId45"/>
      <p:boldItalic r:id="rId46"/>
    </p:embeddedFont>
    <p:embeddedFont>
      <p:font typeface="Montserrat" panose="020F0502020204030204" pitchFamily="2" charset="0"/>
      <p:bold r:id="rId47"/>
      <p:boldItalic r:id="rId48"/>
    </p:embeddedFont>
    <p:embeddedFont>
      <p:font typeface="Montserrat ExtraBold" panose="020F0502020204030204" pitchFamily="2" charset="0"/>
      <p:bold r:id="rId49"/>
      <p:boldItalic r:id="rId50"/>
    </p:embeddedFont>
    <p:embeddedFont>
      <p:font typeface="Montserrat SemiBold" panose="020F0502020204030204" pitchFamily="2" charset="0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openxmlformats.org/officeDocument/2006/relationships/font" Target="fonts/font17.fntdata"/><Relationship Id="rId50" Type="http://schemas.openxmlformats.org/officeDocument/2006/relationships/font" Target="fonts/font20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font" Target="fonts/font15.fntdata"/><Relationship Id="rId53" Type="http://schemas.openxmlformats.org/officeDocument/2006/relationships/font" Target="fonts/font23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font" Target="fonts/font13.fntdata"/><Relationship Id="rId48" Type="http://schemas.openxmlformats.org/officeDocument/2006/relationships/font" Target="fonts/font18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2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font" Target="fonts/font16.fntdata"/><Relationship Id="rId20" Type="http://schemas.openxmlformats.org/officeDocument/2006/relationships/slide" Target="slides/slide19.xml"/><Relationship Id="rId41" Type="http://schemas.openxmlformats.org/officeDocument/2006/relationships/font" Target="fonts/font11.fntdata"/><Relationship Id="rId54" Type="http://schemas.openxmlformats.org/officeDocument/2006/relationships/font" Target="fonts/font2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49" Type="http://schemas.openxmlformats.org/officeDocument/2006/relationships/font" Target="fonts/font19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font" Target="fonts/font1.fntdata"/><Relationship Id="rId44" Type="http://schemas.openxmlformats.org/officeDocument/2006/relationships/font" Target="fonts/font14.fntdata"/><Relationship Id="rId52" Type="http://schemas.openxmlformats.org/officeDocument/2006/relationships/font" Target="fonts/font2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hfd603b8beff3a4b_2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hfd603b8beff3a4b_2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hfd603b8beff3a4b_2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hfd603b8beff3a4b_2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fd603b8beff3a4b_2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fd603b8beff3a4b_2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h52eefa58c3bc21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h52eefa58c3bc21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h52eefa58c3bc2146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h52eefa58c3bc2146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h52eefa58c3bc2146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h52eefa58c3bc2146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h52eefa58c3bc2146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h52eefa58c3bc2146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hfd603b8beff3a4b_2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hfd603b8beff3a4b_2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hfd603b8beff3a4b_2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hfd603b8beff3a4b_2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hfd603b8beff3a4b_2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hfd603b8beff3a4b_2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hfd603b8beff3a4b_2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hfd603b8beff3a4b_2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h7350f313efa0523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h7350f313efa0523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hfd603b8beff3a4b_2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hfd603b8beff3a4b_2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h7350f313efa0523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h7350f313efa0523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hfd603b8beff3a4b_2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hfd603b8beff3a4b_2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h7350f313efa0523_0_2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h7350f313efa0523_0_2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hfd603b8beff3a4b_1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hfd603b8beff3a4b_1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hfd603b8beff3a4b_1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hfd603b8beff3a4b_1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hfd603b8beff3a4b_1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1" name="Google Shape;451;hfd603b8beff3a4b_1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h7350f313efa0523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h7350f313efa0523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hfd603b8beff3a4b_1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hfd603b8beff3a4b_1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h7350f313efa0523_0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h7350f313efa0523_0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hfd603b8beff3a4b_1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Google Shape;546;hfd603b8beff3a4b_15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hfd603b8beff3a4b_14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hfd603b8beff3a4b_14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h52eefa58c3bc2146_0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h52eefa58c3bc2146_0_2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hfd603b8beff3a4b_13_0)">
  <p:cSld name="Generated (hfd603b8beff3a4b_13_0)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31.jp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0" y="-762000"/>
            <a:ext cx="10096500" cy="4962600"/>
            <a:chOff x="0" y="-762000"/>
            <a:chExt cx="10096500" cy="4962600"/>
          </a:xfrm>
        </p:grpSpPr>
        <p:sp>
          <p:nvSpPr>
            <p:cNvPr id="56" name="Google Shape;56;p14"/>
            <p:cNvSpPr/>
            <p:nvPr/>
          </p:nvSpPr>
          <p:spPr>
            <a:xfrm>
              <a:off x="0" y="0"/>
              <a:ext cx="3619500" cy="36195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EFF6FF">
                <a:alpha val="7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4"/>
            <p:cNvSpPr/>
            <p:nvPr/>
          </p:nvSpPr>
          <p:spPr>
            <a:xfrm>
              <a:off x="6667500" y="-762000"/>
              <a:ext cx="3429000" cy="3429000"/>
            </a:xfrm>
            <a:prstGeom prst="ellipse">
              <a:avLst/>
            </a:prstGeom>
            <a:solidFill>
              <a:srgbClr val="DBEAFE">
                <a:alpha val="40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4"/>
            <p:cNvSpPr/>
            <p:nvPr/>
          </p:nvSpPr>
          <p:spPr>
            <a:xfrm>
              <a:off x="762000" y="4191000"/>
              <a:ext cx="7620000" cy="96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" name="Google Shape;59;p14"/>
          <p:cNvGrpSpPr/>
          <p:nvPr/>
        </p:nvGrpSpPr>
        <p:grpSpPr>
          <a:xfrm>
            <a:off x="762000" y="1524000"/>
            <a:ext cx="7620000" cy="2286000"/>
            <a:chOff x="0" y="0"/>
            <a:chExt cx="7620000" cy="2286000"/>
          </a:xfrm>
        </p:grpSpPr>
        <p:sp>
          <p:nvSpPr>
            <p:cNvPr id="60" name="Google Shape;60;p14"/>
            <p:cNvSpPr/>
            <p:nvPr/>
          </p:nvSpPr>
          <p:spPr>
            <a:xfrm>
              <a:off x="0" y="0"/>
              <a:ext cx="7620000" cy="2286000"/>
            </a:xfrm>
            <a:prstGeom prst="roundRect">
              <a:avLst>
                <a:gd name="adj" fmla="val 6666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4"/>
            <p:cNvSpPr/>
            <p:nvPr/>
          </p:nvSpPr>
          <p:spPr>
            <a:xfrm>
              <a:off x="0" y="0"/>
              <a:ext cx="76200" cy="22860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4"/>
            <p:cNvSpPr txBox="1"/>
            <p:nvPr/>
          </p:nvSpPr>
          <p:spPr>
            <a:xfrm>
              <a:off x="381000" y="285750"/>
              <a:ext cx="6858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3200" b="0">
                  <a:solidFill>
                    <a:srgbClr val="0F4C81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Xplore </a:t>
              </a:r>
              <a:r>
                <a:rPr lang="it" sz="3200">
                  <a:solidFill>
                    <a:srgbClr val="0F4C81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- </a:t>
              </a:r>
              <a:r>
                <a:rPr lang="it" sz="3200" b="0">
                  <a:solidFill>
                    <a:srgbClr val="0F4C81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Technical Overview</a:t>
              </a:r>
              <a:endParaRPr sz="3200" b="0">
                <a:solidFill>
                  <a:srgbClr val="0F4C8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it" sz="1600" b="0">
                  <a:solidFill>
                    <a:srgbClr val="2563E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Un'app Android per il tracciamento e la documentazione dei viaggi</a:t>
              </a:r>
              <a:endParaRPr sz="1600" b="0">
                <a:solidFill>
                  <a:srgbClr val="2563EB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  <a:p>
              <a:pPr marL="0" lvl="0" indent="0" algn="l" rtl="0">
                <a:spcBef>
                  <a:spcPts val="1800"/>
                </a:spcBef>
                <a:spcAft>
                  <a:spcPts val="0"/>
                </a:spcAft>
                <a:buNone/>
              </a:pPr>
              <a:r>
                <a:rPr lang="it" sz="1300" b="0">
                  <a:solidFill>
                    <a:srgbClr val="1E293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Sviluppatore: </a:t>
              </a:r>
              <a:r>
                <a:rPr lang="it" sz="1300" b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Raffaele Melluso</a:t>
              </a:r>
              <a:endParaRPr sz="1300" b="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100" b="0">
                  <a:solidFill>
                    <a:srgbClr val="64748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Corso: Programmazione Mobile</a:t>
              </a:r>
              <a:endParaRPr sz="1100" b="0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oogle Shape;67;p15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68" name="Google Shape;68;p1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5"/>
            <p:cNvSpPr txBox="1"/>
            <p:nvPr/>
          </p:nvSpPr>
          <p:spPr>
            <a:xfrm>
              <a:off x="381000" y="285750"/>
              <a:ext cx="66675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24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Architettura e Funzionalità Locale</a:t>
              </a:r>
              <a:endParaRPr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70" name="Google Shape;70;p15"/>
            <p:cNvGrpSpPr/>
            <p:nvPr/>
          </p:nvGrpSpPr>
          <p:grpSpPr>
            <a:xfrm>
              <a:off x="7639050" y="247650"/>
              <a:ext cx="1276350" cy="304800"/>
              <a:chOff x="19050" y="19050"/>
              <a:chExt cx="1276350" cy="304800"/>
            </a:xfrm>
          </p:grpSpPr>
          <p:sp>
            <p:nvSpPr>
              <p:cNvPr id="71" name="Google Shape;71;p15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15"/>
              <p:cNvSpPr/>
              <p:nvPr/>
            </p:nvSpPr>
            <p:spPr>
              <a:xfrm>
                <a:off x="85725" y="76200"/>
                <a:ext cx="133500" cy="1716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cubicBezTo>
                      <a:pt x="25714" y="0"/>
                      <a:pt x="0" y="20000"/>
                      <a:pt x="0" y="46667"/>
                    </a:cubicBezTo>
                    <a:cubicBezTo>
                      <a:pt x="0" y="80000"/>
                      <a:pt x="60000" y="120000"/>
                      <a:pt x="60000" y="120000"/>
                    </a:cubicBezTo>
                    <a:cubicBezTo>
                      <a:pt x="60000" y="120000"/>
                      <a:pt x="120000" y="80000"/>
                      <a:pt x="120000" y="46667"/>
                    </a:cubicBezTo>
                    <a:cubicBezTo>
                      <a:pt x="120000" y="20000"/>
                      <a:pt x="94286" y="0"/>
                      <a:pt x="600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15"/>
              <p:cNvSpPr/>
              <p:nvPr/>
            </p:nvSpPr>
            <p:spPr>
              <a:xfrm>
                <a:off x="123825" y="104775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15"/>
              <p:cNvSpPr txBox="1"/>
              <p:nvPr/>
            </p:nvSpPr>
            <p:spPr>
              <a:xfrm>
                <a:off x="342900" y="19050"/>
                <a:ext cx="952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6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Xplore</a:t>
                </a:r>
                <a:endParaRPr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75" name="Google Shape;75;p15"/>
            <p:cNvSpPr/>
            <p:nvPr/>
          </p:nvSpPr>
          <p:spPr>
            <a:xfrm>
              <a:off x="381000" y="857250"/>
              <a:ext cx="8382000" cy="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" name="Google Shape;76;p15"/>
          <p:cNvGrpSpPr/>
          <p:nvPr/>
        </p:nvGrpSpPr>
        <p:grpSpPr>
          <a:xfrm>
            <a:off x="381000" y="1143000"/>
            <a:ext cx="8382000" cy="3619500"/>
            <a:chOff x="0" y="0"/>
            <a:chExt cx="8382000" cy="3619500"/>
          </a:xfrm>
        </p:grpSpPr>
        <p:sp>
          <p:nvSpPr>
            <p:cNvPr id="77" name="Google Shape;77;p15"/>
            <p:cNvSpPr txBox="1"/>
            <p:nvPr/>
          </p:nvSpPr>
          <p:spPr>
            <a:xfrm>
              <a:off x="0" y="0"/>
              <a:ext cx="3810000" cy="361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200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Xplore</a:t>
              </a:r>
              <a:r>
                <a:rPr lang="it" sz="12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documenta e traccia i viaggi combinando localizzazione, contapassi e mappe.</a:t>
              </a:r>
              <a:endParaRPr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it" sz="12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La versione finale è prevalentemente locale: i dati dei viaggi, dei punti di interesse (POI) e delle statistiche sono interamente gestiti tramite </a:t>
              </a:r>
              <a:r>
                <a:rPr lang="it" sz="1200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Room</a:t>
              </a:r>
              <a:r>
                <a:rPr lang="it" sz="12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it" sz="1200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Firebase Authentication</a:t>
              </a:r>
              <a:r>
                <a:rPr lang="it" sz="12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gestisce l'identità dell'utente in sicurezza.</a:t>
              </a:r>
              <a:endParaRPr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900"/>
                </a:spcAft>
                <a:buNone/>
              </a:pPr>
              <a:r>
                <a:rPr lang="it" sz="12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Per dimostrare l'interazione social senza un backend remoto, l'app utilizza dati dimostrativi locali simulando altri viaggiatori, denominati </a:t>
              </a:r>
              <a:r>
                <a:rPr lang="it" sz="1200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ghost</a:t>
              </a:r>
              <a:r>
                <a:rPr lang="it" sz="12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, con percorsi e visite generate internamente.</a:t>
              </a:r>
              <a:endParaRPr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pic>
          <p:nvPicPr>
            <p:cNvPr id="78" name="Google Shape;78;p1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4191000" y="285750"/>
              <a:ext cx="4191000" cy="23574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9" name="Google Shape;79;p15"/>
          <p:cNvPicPr preferRelativeResize="0"/>
          <p:nvPr/>
        </p:nvPicPr>
        <p:blipFill rotWithShape="1">
          <a:blip r:embed="rId4">
            <a:alphaModFix/>
          </a:blip>
          <a:srcRect l="7732" t="37576" r="85880" b="59537"/>
          <a:stretch/>
        </p:blipFill>
        <p:spPr>
          <a:xfrm>
            <a:off x="7609975" y="236350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/>
        </p:nvSpPr>
        <p:spPr>
          <a:xfrm>
            <a:off x="381000" y="238125"/>
            <a:ext cx="68580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Aree Funzionali dell'Applicazione</a:t>
            </a:r>
            <a:endParaRPr sz="24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85" name="Google Shape;85;p16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86" name="Google Shape;86;p16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6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6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6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90" name="Google Shape;90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838200"/>
            <a:ext cx="8382000" cy="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16"/>
          <p:cNvGrpSpPr/>
          <p:nvPr/>
        </p:nvGrpSpPr>
        <p:grpSpPr>
          <a:xfrm>
            <a:off x="381000" y="1047750"/>
            <a:ext cx="3635400" cy="2162100"/>
            <a:chOff x="381000" y="1047750"/>
            <a:chExt cx="3635400" cy="2162100"/>
          </a:xfrm>
        </p:grpSpPr>
        <p:grpSp>
          <p:nvGrpSpPr>
            <p:cNvPr id="92" name="Google Shape;92;p16"/>
            <p:cNvGrpSpPr/>
            <p:nvPr/>
          </p:nvGrpSpPr>
          <p:grpSpPr>
            <a:xfrm>
              <a:off x="381000" y="1066800"/>
              <a:ext cx="228600" cy="228600"/>
              <a:chOff x="0" y="0"/>
              <a:chExt cx="228600" cy="228600"/>
            </a:xfrm>
          </p:grpSpPr>
          <p:sp>
            <p:nvSpPr>
              <p:cNvPr id="93" name="Google Shape;93;p16"/>
              <p:cNvSpPr/>
              <p:nvPr/>
            </p:nvSpPr>
            <p:spPr>
              <a:xfrm>
                <a:off x="0" y="0"/>
                <a:ext cx="228600" cy="228600"/>
              </a:xfrm>
              <a:prstGeom prst="ellipse">
                <a:avLst/>
              </a:prstGeom>
              <a:solidFill>
                <a:srgbClr val="DBEAFE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16"/>
              <p:cNvSpPr/>
              <p:nvPr/>
            </p:nvSpPr>
            <p:spPr>
              <a:xfrm>
                <a:off x="66675" y="76200"/>
                <a:ext cx="954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7500"/>
                    </a:moveTo>
                    <a:lnTo>
                      <a:pt x="42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3825" cap="rnd" cmpd="sng">
                <a:solidFill>
                  <a:srgbClr val="2563EB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5" name="Google Shape;95;p16"/>
            <p:cNvSpPr txBox="1"/>
            <p:nvPr/>
          </p:nvSpPr>
          <p:spPr>
            <a:xfrm>
              <a:off x="723900" y="1047750"/>
              <a:ext cx="3292500" cy="21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200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Registrazione Percorsi in Background</a:t>
              </a:r>
              <a:endParaRPr sz="1200" b="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it"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Tracciamento continuo dei tragitti mediante GPS e sensore contapassi gestiti in background.</a:t>
              </a:r>
              <a:endParaRPr sz="11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1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Notifica persistente con possibilità di fermare il servizio quando si vuole</a:t>
              </a:r>
              <a:endParaRPr sz="11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96" name="Google Shape;96;p16" title="onboard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9275" y="981075"/>
            <a:ext cx="1812959" cy="398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6" title="onboard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04634" y="981075"/>
            <a:ext cx="1821233" cy="398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6"/>
          <p:cNvPicPr preferRelativeResize="0"/>
          <p:nvPr/>
        </p:nvPicPr>
        <p:blipFill rotWithShape="1">
          <a:blip r:embed="rId6">
            <a:alphaModFix/>
          </a:blip>
          <a:srcRect t="35555" b="39260"/>
          <a:stretch/>
        </p:blipFill>
        <p:spPr>
          <a:xfrm>
            <a:off x="465300" y="2387125"/>
            <a:ext cx="3466799" cy="192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6"/>
          <p:cNvPicPr preferRelativeResize="0"/>
          <p:nvPr/>
        </p:nvPicPr>
        <p:blipFill rotWithShape="1">
          <a:blip r:embed="rId6">
            <a:alphaModFix/>
          </a:blip>
          <a:srcRect l="7732" t="37576" r="85880" b="59537"/>
          <a:stretch/>
        </p:blipFill>
        <p:spPr>
          <a:xfrm>
            <a:off x="7601825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7"/>
          <p:cNvSpPr txBox="1"/>
          <p:nvPr/>
        </p:nvSpPr>
        <p:spPr>
          <a:xfrm>
            <a:off x="381000" y="238125"/>
            <a:ext cx="68580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Aree Funzionali dell'Applicazione</a:t>
            </a:r>
            <a:endParaRPr sz="24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05" name="Google Shape;105;p17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106" name="Google Shape;106;p17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7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7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7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10" name="Google Shape;11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838200"/>
            <a:ext cx="8382000" cy="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7"/>
          <p:cNvGrpSpPr/>
          <p:nvPr/>
        </p:nvGrpSpPr>
        <p:grpSpPr>
          <a:xfrm>
            <a:off x="381075" y="1033550"/>
            <a:ext cx="2971890" cy="571500"/>
            <a:chOff x="381075" y="1033550"/>
            <a:chExt cx="2971890" cy="571500"/>
          </a:xfrm>
        </p:grpSpPr>
        <p:sp>
          <p:nvSpPr>
            <p:cNvPr id="112" name="Google Shape;112;p17"/>
            <p:cNvSpPr/>
            <p:nvPr/>
          </p:nvSpPr>
          <p:spPr>
            <a:xfrm>
              <a:off x="447675" y="1143000"/>
              <a:ext cx="95400" cy="762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7500"/>
                  </a:moveTo>
                  <a:lnTo>
                    <a:pt x="42000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w="23825" cap="rnd" cmpd="sng">
              <a:solidFill>
                <a:srgbClr val="2563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3" name="Google Shape;113;p17"/>
            <p:cNvGrpSpPr/>
            <p:nvPr/>
          </p:nvGrpSpPr>
          <p:grpSpPr>
            <a:xfrm>
              <a:off x="381075" y="1052600"/>
              <a:ext cx="228600" cy="228600"/>
              <a:chOff x="75" y="-728575"/>
              <a:chExt cx="228600" cy="228600"/>
            </a:xfrm>
          </p:grpSpPr>
          <p:sp>
            <p:nvSpPr>
              <p:cNvPr id="114" name="Google Shape;114;p17"/>
              <p:cNvSpPr/>
              <p:nvPr/>
            </p:nvSpPr>
            <p:spPr>
              <a:xfrm>
                <a:off x="75" y="-728575"/>
                <a:ext cx="228600" cy="228600"/>
              </a:xfrm>
              <a:prstGeom prst="ellipse">
                <a:avLst/>
              </a:prstGeom>
              <a:solidFill>
                <a:srgbClr val="DBEAFE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17"/>
              <p:cNvSpPr/>
              <p:nvPr/>
            </p:nvSpPr>
            <p:spPr>
              <a:xfrm>
                <a:off x="66675" y="-652387"/>
                <a:ext cx="954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7500"/>
                    </a:moveTo>
                    <a:lnTo>
                      <a:pt x="42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3825" cap="rnd" cmpd="sng">
                <a:solidFill>
                  <a:srgbClr val="2563EB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6" name="Google Shape;116;p17"/>
            <p:cNvSpPr txBox="1"/>
            <p:nvPr/>
          </p:nvSpPr>
          <p:spPr>
            <a:xfrm>
              <a:off x="730965" y="1033550"/>
              <a:ext cx="2622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500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Mappa e Ghost Simulati</a:t>
              </a:r>
              <a:endParaRPr sz="1500" b="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it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Visualizzazione interattiva della propria posizione, del percorso fatto, dei punti di interesse (POI)</a:t>
              </a:r>
              <a:r>
                <a:rPr lang="it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e</a:t>
              </a:r>
              <a:r>
                <a:rPr lang="it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dei ghost simulati.</a:t>
              </a:r>
              <a:r>
                <a:rPr lang="it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I ghosts hanno percorsi, punti di interesse, voti e mezzi presi.</a:t>
              </a:r>
              <a:endParaRPr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0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117" name="Google Shape;117;p17" title="hom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2825" y="981075"/>
            <a:ext cx="1960613" cy="398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/>
          <p:cNvPicPr preferRelativeResize="0"/>
          <p:nvPr/>
        </p:nvPicPr>
        <p:blipFill rotWithShape="1">
          <a:blip r:embed="rId5">
            <a:alphaModFix/>
          </a:blip>
          <a:srcRect b="5096"/>
          <a:stretch/>
        </p:blipFill>
        <p:spPr>
          <a:xfrm>
            <a:off x="4087975" y="981075"/>
            <a:ext cx="1892625" cy="3950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/>
          <p:cNvPicPr preferRelativeResize="0"/>
          <p:nvPr/>
        </p:nvPicPr>
        <p:blipFill rotWithShape="1">
          <a:blip r:embed="rId6">
            <a:alphaModFix/>
          </a:blip>
          <a:srcRect l="7732" t="37576" r="85880" b="59537"/>
          <a:stretch/>
        </p:blipFill>
        <p:spPr>
          <a:xfrm>
            <a:off x="7601825" y="238125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Background"/>
          <p:cNvSpPr txBox="1"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2" name="Title"/>
          <p:cNvSpPr txBox="1"/>
          <p:nvPr/>
        </p:nvSpPr>
        <p:spPr>
          <a:xfrm>
            <a:off x="381000" y="285750"/>
            <a:ext cx="66675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Mappa: MapLibre Native e OpenFreeMap</a:t>
            </a:r>
          </a:p>
        </p:txBody>
      </p:sp>
      <p:sp>
        <p:nvSpPr>
          <p:cNvPr id="903" name="XploreChip"/>
          <p:cNvSpPr txBox="1"/>
          <p:nvPr/>
        </p:nvSpPr>
        <p:spPr>
          <a:xfrm>
            <a:off x="7389050" y="247650"/>
            <a:ext cx="15263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Xplore</a:t>
            </a:r>
          </a:p>
        </p:txBody>
      </p:sp>
      <p:sp>
        <p:nvSpPr>
          <p:cNvPr id="910" name="Body"/>
          <p:cNvSpPr txBox="1"/>
          <p:nvPr/>
        </p:nvSpPr>
        <p:spPr>
          <a:xfrm>
            <a:off x="381000" y="1143000"/>
            <a:ext cx="4114800" cy="3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000" b="1" dirty="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Rendering Mappe in Compose</a:t>
            </a: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it" sz="1200" b="1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Zero API key, zero costi:</a:t>
            </a:r>
            <a:r>
              <a:rPr lang="it" sz="1200" b="0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tile vettoriali OpenFreeMap senza token da proteggere né quote da monitorare.</a:t>
            </a:r>
          </a:p>
          <a:p>
            <a:pPr marL="457200" lvl="0" indent="-317500" algn="l" rtl="0">
              <a:spcBef>
                <a:spcPts val="750"/>
              </a:spcBef>
              <a:spcAft>
                <a:spcPts val="0"/>
              </a:spcAft>
              <a:buSzPts val="1400"/>
              <a:buChar char="●"/>
            </a:pPr>
            <a:r>
              <a:rPr lang="it" sz="1200" b="1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Compose con View:</a:t>
            </a:r>
            <a:r>
              <a:rPr lang="it" sz="1200" b="0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la MapView è ospitata in un AndroidView, quindi Compose non ricompone mai la mappa.</a:t>
            </a:r>
          </a:p>
          <a:p>
            <a:pPr marL="457200" lvl="0" indent="-317500" algn="l" rtl="0">
              <a:spcBef>
                <a:spcPts val="750"/>
              </a:spcBef>
              <a:spcAft>
                <a:spcPts val="0"/>
              </a:spcAft>
              <a:buSzPts val="1400"/>
              <a:buChar char="●"/>
            </a:pPr>
            <a:r>
              <a:rPr lang="it" sz="1200" b="1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Rendering:</a:t>
            </a:r>
            <a:r>
              <a:rPr lang="it" sz="1200" b="0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percorso, POI e ghost sono sorgenti GeoJSON aggiornate solo quando lo stato cambia.</a:t>
            </a:r>
          </a:p>
          <a:p>
            <a:pPr marL="457200" lvl="0" indent="-317500" algn="l" rtl="0">
              <a:spcBef>
                <a:spcPts val="750"/>
              </a:spcBef>
              <a:spcAft>
                <a:spcPts val="0"/>
              </a:spcAft>
              <a:buSzPts val="1400"/>
              <a:buChar char="●"/>
            </a:pPr>
            <a:r>
              <a:rPr lang="it" sz="1200" b="1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Ciclo di vita gestito:</a:t>
            </a:r>
            <a:r>
              <a:rPr lang="it" sz="1200" b="0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la mappa viene distrutta al rilascio per liberare le risorse ed evitare leak.</a:t>
            </a:r>
          </a:p>
        </p:txBody>
      </p:sp>
      <p:sp>
        <p:nvSpPr>
          <p:cNvPr id="911" name="CodePanel"/>
          <p:cNvSpPr txBox="1"/>
          <p:nvPr/>
        </p:nvSpPr>
        <p:spPr>
          <a:xfrm>
            <a:off x="4703900" y="1143000"/>
            <a:ext cx="4059100" cy="36195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115000" tIns="90000" rIns="115000" bIns="100000" anchor="t" anchorCtr="0">
            <a:noAutofit/>
          </a:bodyPr>
          <a:lstStyle/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const</a:t>
            </a: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it" sz="900" b="0" dirty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val</a:t>
            </a: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it" sz="900" b="0" dirty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STYLE_URL</a:t>
            </a: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=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it" sz="900" b="0" dirty="0">
                <a:solidFill>
                  <a:srgbClr val="86EFAC"/>
                </a:solidFill>
                <a:latin typeface="Consolas"/>
                <a:ea typeface="Consolas"/>
                <a:cs typeface="Consolas"/>
                <a:sym typeface="Consolas"/>
              </a:rPr>
              <a:t>"https://styles.maptoolkit.org/street.json"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it" sz="900" b="0" dirty="0">
              <a:solidFill>
                <a:srgbClr val="86EFA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AndroidView</a:t>
            </a: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factory = { ctx -&gt;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it" sz="900" b="0" dirty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MapLibre</a:t>
            </a: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.getInstance(ctx)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it" sz="900" b="0" dirty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MapView</a:t>
            </a: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(ctx).apply {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getMapAsync { map -&gt;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map.setStyle(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it" sz="900" b="0" dirty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Style</a:t>
            </a: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it" sz="900" b="0" dirty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Builder</a:t>
            </a: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().fromUri(</a:t>
            </a:r>
            <a:r>
              <a:rPr lang="it" sz="900" b="0" dirty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STYLE_URL</a:t>
            </a: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) { style -&gt;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  overlays = </a:t>
            </a:r>
            <a:r>
              <a:rPr lang="it" sz="900" b="0" dirty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MapOverlays</a:t>
            </a: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(map, style)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}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}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},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update = { mapView -&gt;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overlaysRef.value?.update(uiState)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},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onRelease = { mapView -&gt;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mapView.onDestroy()}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 dirty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8"/>
          <p:cNvSpPr txBox="1"/>
          <p:nvPr/>
        </p:nvSpPr>
        <p:spPr>
          <a:xfrm>
            <a:off x="381000" y="238125"/>
            <a:ext cx="68580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Aree Funzionali dell'Applicazione</a:t>
            </a:r>
            <a:endParaRPr sz="24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25" name="Google Shape;125;p18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126" name="Google Shape;126;p18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8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8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8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30" name="Google Shape;130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838200"/>
            <a:ext cx="8382000" cy="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1" name="Google Shape;131;p18"/>
          <p:cNvGrpSpPr/>
          <p:nvPr/>
        </p:nvGrpSpPr>
        <p:grpSpPr>
          <a:xfrm>
            <a:off x="381000" y="1047750"/>
            <a:ext cx="2871600" cy="571500"/>
            <a:chOff x="381000" y="1047750"/>
            <a:chExt cx="2871600" cy="571500"/>
          </a:xfrm>
        </p:grpSpPr>
        <p:grpSp>
          <p:nvGrpSpPr>
            <p:cNvPr id="132" name="Google Shape;132;p18"/>
            <p:cNvGrpSpPr/>
            <p:nvPr/>
          </p:nvGrpSpPr>
          <p:grpSpPr>
            <a:xfrm>
              <a:off x="381000" y="1066800"/>
              <a:ext cx="228600" cy="228600"/>
              <a:chOff x="0" y="0"/>
              <a:chExt cx="228600" cy="228600"/>
            </a:xfrm>
          </p:grpSpPr>
          <p:sp>
            <p:nvSpPr>
              <p:cNvPr id="133" name="Google Shape;133;p18"/>
              <p:cNvSpPr/>
              <p:nvPr/>
            </p:nvSpPr>
            <p:spPr>
              <a:xfrm>
                <a:off x="0" y="0"/>
                <a:ext cx="228600" cy="228600"/>
              </a:xfrm>
              <a:prstGeom prst="ellipse">
                <a:avLst/>
              </a:prstGeom>
              <a:solidFill>
                <a:srgbClr val="DBEAFE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18"/>
              <p:cNvSpPr/>
              <p:nvPr/>
            </p:nvSpPr>
            <p:spPr>
              <a:xfrm>
                <a:off x="66675" y="76200"/>
                <a:ext cx="954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7500"/>
                    </a:moveTo>
                    <a:lnTo>
                      <a:pt x="42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3825" cap="rnd" cmpd="sng">
                <a:solidFill>
                  <a:srgbClr val="2563EB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5" name="Google Shape;135;p18"/>
            <p:cNvSpPr txBox="1"/>
            <p:nvPr/>
          </p:nvSpPr>
          <p:spPr>
            <a:xfrm>
              <a:off x="723900" y="1047750"/>
              <a:ext cx="25287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it" sz="150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Sistema di Prossimità</a:t>
              </a:r>
              <a:endParaRPr sz="150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it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Modulo di notifica automatica in tempo reale per segnalare i POI nelle vicinanze dell'utente.</a:t>
              </a:r>
              <a:endParaRPr sz="150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pic>
        <p:nvPicPr>
          <p:cNvPr id="136" name="Google Shape;136;p18" title="home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01223" y="1047750"/>
            <a:ext cx="1714175" cy="3801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10000" y="981075"/>
            <a:ext cx="1810247" cy="3981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05000" y="1009800"/>
            <a:ext cx="1752600" cy="38545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8"/>
          <p:cNvPicPr preferRelativeResize="0"/>
          <p:nvPr/>
        </p:nvPicPr>
        <p:blipFill rotWithShape="1">
          <a:blip r:embed="rId7">
            <a:alphaModFix/>
          </a:blip>
          <a:srcRect l="7732" t="37576" r="85880" b="59537"/>
          <a:stretch/>
        </p:blipFill>
        <p:spPr>
          <a:xfrm>
            <a:off x="7601825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/>
          <p:nvPr/>
        </p:nvSpPr>
        <p:spPr>
          <a:xfrm>
            <a:off x="381000" y="238125"/>
            <a:ext cx="68580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Aree Funzionali dell'Applicazione</a:t>
            </a:r>
            <a:endParaRPr sz="24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45" name="Google Shape;145;p19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146" name="Google Shape;146;p19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9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9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9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50" name="Google Shape;150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838200"/>
            <a:ext cx="8382000" cy="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19"/>
          <p:cNvGrpSpPr/>
          <p:nvPr/>
        </p:nvGrpSpPr>
        <p:grpSpPr>
          <a:xfrm>
            <a:off x="381000" y="1047750"/>
            <a:ext cx="2476500" cy="2258700"/>
            <a:chOff x="381000" y="1047750"/>
            <a:chExt cx="2476500" cy="2258700"/>
          </a:xfrm>
        </p:grpSpPr>
        <p:grpSp>
          <p:nvGrpSpPr>
            <p:cNvPr id="152" name="Google Shape;152;p19"/>
            <p:cNvGrpSpPr/>
            <p:nvPr/>
          </p:nvGrpSpPr>
          <p:grpSpPr>
            <a:xfrm>
              <a:off x="381000" y="1066800"/>
              <a:ext cx="228600" cy="228600"/>
              <a:chOff x="0" y="0"/>
              <a:chExt cx="228600" cy="228600"/>
            </a:xfrm>
          </p:grpSpPr>
          <p:sp>
            <p:nvSpPr>
              <p:cNvPr id="153" name="Google Shape;153;p19"/>
              <p:cNvSpPr/>
              <p:nvPr/>
            </p:nvSpPr>
            <p:spPr>
              <a:xfrm>
                <a:off x="0" y="0"/>
                <a:ext cx="228600" cy="228600"/>
              </a:xfrm>
              <a:prstGeom prst="ellipse">
                <a:avLst/>
              </a:prstGeom>
              <a:solidFill>
                <a:srgbClr val="DBEAFE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Google Shape;154;p19"/>
              <p:cNvSpPr/>
              <p:nvPr/>
            </p:nvSpPr>
            <p:spPr>
              <a:xfrm>
                <a:off x="66675" y="76200"/>
                <a:ext cx="954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7500"/>
                    </a:moveTo>
                    <a:lnTo>
                      <a:pt x="42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3825" cap="rnd" cmpd="sng">
                <a:solidFill>
                  <a:srgbClr val="2563EB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5" name="Google Shape;155;p19"/>
            <p:cNvSpPr txBox="1"/>
            <p:nvPr/>
          </p:nvSpPr>
          <p:spPr>
            <a:xfrm>
              <a:off x="723900" y="1047750"/>
              <a:ext cx="2133600" cy="225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it" sz="150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Statistiche e Trend Temporali</a:t>
              </a:r>
              <a:endParaRPr sz="150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it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Calcolo di metriche aggregate e analisi dei trend (giorno, settimana, mese, anno) basati sui voti espressi per i POI. Si possono filtrare per attrazioni o per città da visitare</a:t>
              </a:r>
              <a:endParaRPr sz="150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pic>
        <p:nvPicPr>
          <p:cNvPr id="156" name="Google Shape;156;p19" title="trend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78522" y="1207150"/>
            <a:ext cx="1761078" cy="365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9" title="trend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12603" y="1160638"/>
            <a:ext cx="1833579" cy="374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9" title="trend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048575" y="855401"/>
            <a:ext cx="1931675" cy="4049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9"/>
          <p:cNvPicPr preferRelativeResize="0"/>
          <p:nvPr/>
        </p:nvPicPr>
        <p:blipFill rotWithShape="1">
          <a:blip r:embed="rId7">
            <a:alphaModFix/>
          </a:blip>
          <a:srcRect l="7732" t="37576" r="85880" b="59537"/>
          <a:stretch/>
        </p:blipFill>
        <p:spPr>
          <a:xfrm>
            <a:off x="7601825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0"/>
          <p:cNvSpPr txBox="1"/>
          <p:nvPr/>
        </p:nvSpPr>
        <p:spPr>
          <a:xfrm>
            <a:off x="381000" y="238125"/>
            <a:ext cx="68580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Aree Funzionali dell'Applicazione</a:t>
            </a:r>
            <a:endParaRPr sz="24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65" name="Google Shape;165;p20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166" name="Google Shape;166;p20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20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20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20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70" name="Google Shape;17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838200"/>
            <a:ext cx="8382000" cy="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1" name="Google Shape;171;p20"/>
          <p:cNvGrpSpPr/>
          <p:nvPr/>
        </p:nvGrpSpPr>
        <p:grpSpPr>
          <a:xfrm>
            <a:off x="381000" y="1047750"/>
            <a:ext cx="2784300" cy="571500"/>
            <a:chOff x="381000" y="1047750"/>
            <a:chExt cx="2784300" cy="571500"/>
          </a:xfrm>
        </p:grpSpPr>
        <p:grpSp>
          <p:nvGrpSpPr>
            <p:cNvPr id="172" name="Google Shape;172;p20"/>
            <p:cNvGrpSpPr/>
            <p:nvPr/>
          </p:nvGrpSpPr>
          <p:grpSpPr>
            <a:xfrm>
              <a:off x="381000" y="1066800"/>
              <a:ext cx="228600" cy="228600"/>
              <a:chOff x="0" y="0"/>
              <a:chExt cx="228600" cy="228600"/>
            </a:xfrm>
          </p:grpSpPr>
          <p:sp>
            <p:nvSpPr>
              <p:cNvPr id="173" name="Google Shape;173;p20"/>
              <p:cNvSpPr/>
              <p:nvPr/>
            </p:nvSpPr>
            <p:spPr>
              <a:xfrm>
                <a:off x="0" y="0"/>
                <a:ext cx="228600" cy="228600"/>
              </a:xfrm>
              <a:prstGeom prst="ellipse">
                <a:avLst/>
              </a:prstGeom>
              <a:solidFill>
                <a:srgbClr val="DBEAFE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174;p20"/>
              <p:cNvSpPr/>
              <p:nvPr/>
            </p:nvSpPr>
            <p:spPr>
              <a:xfrm>
                <a:off x="66675" y="76200"/>
                <a:ext cx="954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67500"/>
                    </a:moveTo>
                    <a:lnTo>
                      <a:pt x="42000" y="120000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w="23825" cap="rnd" cmpd="sng">
                <a:solidFill>
                  <a:srgbClr val="2563EB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75" name="Google Shape;175;p20"/>
            <p:cNvSpPr txBox="1"/>
            <p:nvPr/>
          </p:nvSpPr>
          <p:spPr>
            <a:xfrm>
              <a:off x="723900" y="1047750"/>
              <a:ext cx="244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50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Libretto Viaggi</a:t>
              </a:r>
              <a:endParaRPr sz="150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it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Sezione per conservare i ricordi di viaggio, con supporto al salvataggio di foto, dettagli sui trasporti, percorsi, statistiche di viaggio e punti di interesse visitati</a:t>
              </a:r>
              <a:endParaRPr sz="150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pic>
        <p:nvPicPr>
          <p:cNvPr id="176" name="Google Shape;176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98475" y="1009800"/>
            <a:ext cx="1810247" cy="3981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18772" y="1047750"/>
            <a:ext cx="1810247" cy="3981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39068" y="981076"/>
            <a:ext cx="1832556" cy="4030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0"/>
          <p:cNvPicPr preferRelativeResize="0"/>
          <p:nvPr/>
        </p:nvPicPr>
        <p:blipFill rotWithShape="1">
          <a:blip r:embed="rId7">
            <a:alphaModFix/>
          </a:blip>
          <a:srcRect l="7732" t="37576" r="85880" b="59537"/>
          <a:stretch/>
        </p:blipFill>
        <p:spPr>
          <a:xfrm>
            <a:off x="7639050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5" name="Google Shape;185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5763" y="957263"/>
            <a:ext cx="8220000" cy="36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1"/>
          <p:cNvSpPr txBox="1"/>
          <p:nvPr/>
        </p:nvSpPr>
        <p:spPr>
          <a:xfrm>
            <a:off x="381000" y="285750"/>
            <a:ext cx="66675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Architettura: MVVM &amp; Repository Pattern</a:t>
            </a:r>
            <a:endParaRPr sz="24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87" name="Google Shape;187;p21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188" name="Google Shape;188;p21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1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1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1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92" name="Google Shape;192;p21"/>
          <p:cNvSpPr/>
          <p:nvPr/>
        </p:nvSpPr>
        <p:spPr>
          <a:xfrm>
            <a:off x="381000" y="857250"/>
            <a:ext cx="8382000" cy="1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3" name="Google Shape;193;p21"/>
          <p:cNvGrpSpPr/>
          <p:nvPr/>
        </p:nvGrpSpPr>
        <p:grpSpPr>
          <a:xfrm>
            <a:off x="381000" y="1190625"/>
            <a:ext cx="8381850" cy="2190900"/>
            <a:chOff x="0" y="0"/>
            <a:chExt cx="8381850" cy="2190900"/>
          </a:xfrm>
        </p:grpSpPr>
        <p:grpSp>
          <p:nvGrpSpPr>
            <p:cNvPr id="194" name="Google Shape;194;p21"/>
            <p:cNvGrpSpPr/>
            <p:nvPr/>
          </p:nvGrpSpPr>
          <p:grpSpPr>
            <a:xfrm>
              <a:off x="0" y="0"/>
              <a:ext cx="1809600" cy="2190900"/>
              <a:chOff x="0" y="0"/>
              <a:chExt cx="1809600" cy="2190900"/>
            </a:xfrm>
          </p:grpSpPr>
          <p:sp>
            <p:nvSpPr>
              <p:cNvPr id="195" name="Google Shape;195;p21"/>
              <p:cNvSpPr/>
              <p:nvPr/>
            </p:nvSpPr>
            <p:spPr>
              <a:xfrm>
                <a:off x="0" y="0"/>
                <a:ext cx="1809600" cy="2190900"/>
              </a:xfrm>
              <a:prstGeom prst="roundRect">
                <a:avLst>
                  <a:gd name="adj" fmla="val 5263"/>
                </a:avLst>
              </a:prstGeom>
              <a:solidFill>
                <a:srgbClr val="FFFFFF"/>
              </a:solidFill>
              <a:ln w="1905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21"/>
              <p:cNvSpPr/>
              <p:nvPr/>
            </p:nvSpPr>
            <p:spPr>
              <a:xfrm>
                <a:off x="0" y="0"/>
                <a:ext cx="18096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21"/>
              <p:cNvSpPr txBox="1"/>
              <p:nvPr/>
            </p:nvSpPr>
            <p:spPr>
              <a:xfrm>
                <a:off x="114300" y="190500"/>
                <a:ext cx="1581300" cy="1857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1">
                    <a:solidFill>
                      <a:srgbClr val="2563EB"/>
                    </a:solidFill>
                    <a:latin typeface="Inter"/>
                    <a:ea typeface="Inter"/>
                    <a:cs typeface="Inter"/>
                    <a:sym typeface="Inter"/>
                  </a:rPr>
                  <a:t>UI Layer</a:t>
                </a:r>
                <a:endParaRPr sz="10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ctr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it" sz="12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Jetpack Compose</a:t>
                </a:r>
                <a:endParaRPr sz="12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marL="0" lvl="0" indent="0" algn="ctr" rtl="0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lang="it" sz="950" b="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Inoltra gli eventi dell'utente ai ViewModel.</a:t>
                </a:r>
                <a:endParaRPr sz="95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ctr" rtl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it" sz="950" b="0">
                    <a:solidFill>
                      <a:srgbClr val="2563EB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Osserva lo stato reattivo.</a:t>
                </a:r>
                <a:endParaRPr sz="950" b="0">
                  <a:solidFill>
                    <a:srgbClr val="2563E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198" name="Google Shape;198;p21"/>
            <p:cNvGrpSpPr/>
            <p:nvPr/>
          </p:nvGrpSpPr>
          <p:grpSpPr>
            <a:xfrm>
              <a:off x="1857375" y="1009650"/>
              <a:ext cx="285750" cy="76200"/>
              <a:chOff x="47625" y="-38100"/>
              <a:chExt cx="285750" cy="76200"/>
            </a:xfrm>
          </p:grpSpPr>
          <p:pic>
            <p:nvPicPr>
              <p:cNvPr id="199" name="Google Shape;199;p21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7625" y="-9525"/>
                <a:ext cx="238200" cy="192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00" name="Google Shape;200;p21"/>
              <p:cNvSpPr/>
              <p:nvPr/>
            </p:nvSpPr>
            <p:spPr>
              <a:xfrm>
                <a:off x="257175" y="-381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1" name="Google Shape;201;p21"/>
            <p:cNvGrpSpPr/>
            <p:nvPr/>
          </p:nvGrpSpPr>
          <p:grpSpPr>
            <a:xfrm>
              <a:off x="2190750" y="0"/>
              <a:ext cx="1809600" cy="2190900"/>
              <a:chOff x="0" y="0"/>
              <a:chExt cx="1809600" cy="2190900"/>
            </a:xfrm>
          </p:grpSpPr>
          <p:sp>
            <p:nvSpPr>
              <p:cNvPr id="202" name="Google Shape;202;p21"/>
              <p:cNvSpPr/>
              <p:nvPr/>
            </p:nvSpPr>
            <p:spPr>
              <a:xfrm>
                <a:off x="0" y="0"/>
                <a:ext cx="1809600" cy="2190900"/>
              </a:xfrm>
              <a:prstGeom prst="roundRect">
                <a:avLst>
                  <a:gd name="adj" fmla="val 5263"/>
                </a:avLst>
              </a:prstGeom>
              <a:solidFill>
                <a:srgbClr val="FFFFFF"/>
              </a:solidFill>
              <a:ln w="1905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203;p21"/>
              <p:cNvSpPr/>
              <p:nvPr/>
            </p:nvSpPr>
            <p:spPr>
              <a:xfrm>
                <a:off x="0" y="0"/>
                <a:ext cx="18096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204;p21"/>
              <p:cNvSpPr txBox="1"/>
              <p:nvPr/>
            </p:nvSpPr>
            <p:spPr>
              <a:xfrm>
                <a:off x="114300" y="190500"/>
                <a:ext cx="1581300" cy="1857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1">
                    <a:solidFill>
                      <a:srgbClr val="0F4C81"/>
                    </a:solidFill>
                    <a:latin typeface="Inter"/>
                    <a:ea typeface="Inter"/>
                    <a:cs typeface="Inter"/>
                    <a:sym typeface="Inter"/>
                  </a:rPr>
                  <a:t>State &amp; Logic</a:t>
                </a:r>
                <a:endParaRPr sz="1000" b="1">
                  <a:solidFill>
                    <a:srgbClr val="0F4C81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ctr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it" sz="12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ViewModel</a:t>
                </a:r>
                <a:endParaRPr sz="12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marL="0" lvl="0" indent="0" algn="ctr" rtl="0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lang="it" sz="950" b="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Gestisce la logica di presentazione e mantiene lo stato della UI.</a:t>
                </a:r>
                <a:endParaRPr sz="95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ctr" rtl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it" sz="950" b="0">
                    <a:solidFill>
                      <a:srgbClr val="0F4C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Comunica con i Repository.</a:t>
                </a:r>
                <a:endParaRPr sz="950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205" name="Google Shape;205;p21"/>
            <p:cNvGrpSpPr/>
            <p:nvPr/>
          </p:nvGrpSpPr>
          <p:grpSpPr>
            <a:xfrm>
              <a:off x="4048125" y="1009650"/>
              <a:ext cx="285750" cy="76200"/>
              <a:chOff x="47625" y="-38100"/>
              <a:chExt cx="285750" cy="76200"/>
            </a:xfrm>
          </p:grpSpPr>
          <p:pic>
            <p:nvPicPr>
              <p:cNvPr id="206" name="Google Shape;206;p21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47625" y="-9525"/>
                <a:ext cx="238200" cy="192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07" name="Google Shape;207;p21"/>
              <p:cNvSpPr/>
              <p:nvPr/>
            </p:nvSpPr>
            <p:spPr>
              <a:xfrm>
                <a:off x="257175" y="-381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8" name="Google Shape;208;p21"/>
            <p:cNvGrpSpPr/>
            <p:nvPr/>
          </p:nvGrpSpPr>
          <p:grpSpPr>
            <a:xfrm>
              <a:off x="4381500" y="0"/>
              <a:ext cx="1809600" cy="2190900"/>
              <a:chOff x="0" y="0"/>
              <a:chExt cx="1809600" cy="2190900"/>
            </a:xfrm>
          </p:grpSpPr>
          <p:sp>
            <p:nvSpPr>
              <p:cNvPr id="209" name="Google Shape;209;p21"/>
              <p:cNvSpPr/>
              <p:nvPr/>
            </p:nvSpPr>
            <p:spPr>
              <a:xfrm>
                <a:off x="0" y="0"/>
                <a:ext cx="1809600" cy="2190900"/>
              </a:xfrm>
              <a:prstGeom prst="roundRect">
                <a:avLst>
                  <a:gd name="adj" fmla="val 5263"/>
                </a:avLst>
              </a:prstGeom>
              <a:solidFill>
                <a:srgbClr val="FFFFFF"/>
              </a:solidFill>
              <a:ln w="1905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210;p21"/>
              <p:cNvSpPr/>
              <p:nvPr/>
            </p:nvSpPr>
            <p:spPr>
              <a:xfrm>
                <a:off x="0" y="0"/>
                <a:ext cx="18096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21"/>
              <p:cNvSpPr txBox="1"/>
              <p:nvPr/>
            </p:nvSpPr>
            <p:spPr>
              <a:xfrm>
                <a:off x="114300" y="190500"/>
                <a:ext cx="1581300" cy="1857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1">
                    <a:solidFill>
                      <a:srgbClr val="2563EB"/>
                    </a:solidFill>
                    <a:latin typeface="Inter"/>
                    <a:ea typeface="Inter"/>
                    <a:cs typeface="Inter"/>
                    <a:sym typeface="Inter"/>
                  </a:rPr>
                  <a:t>Abstraction</a:t>
                </a:r>
                <a:endParaRPr sz="10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ctr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it" sz="12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Repository</a:t>
                </a:r>
                <a:endParaRPr sz="12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marL="0" lvl="0" indent="0" algn="ctr" rtl="0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lang="it" sz="950" b="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Astrae e coordina le sorgenti dati sottostanti.</a:t>
                </a:r>
                <a:endParaRPr sz="95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ctr" rtl="0">
                  <a:spcBef>
                    <a:spcPts val="900"/>
                  </a:spcBef>
                  <a:spcAft>
                    <a:spcPts val="900"/>
                  </a:spcAft>
                  <a:buNone/>
                </a:pPr>
                <a:r>
                  <a:rPr lang="it" sz="950" b="0">
                    <a:solidFill>
                      <a:srgbClr val="2563EB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Fornisce un'interfaccia pulita verso l'alto.</a:t>
                </a:r>
                <a:endParaRPr sz="950" b="0">
                  <a:solidFill>
                    <a:srgbClr val="2563E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212" name="Google Shape;212;p21"/>
            <p:cNvGrpSpPr/>
            <p:nvPr/>
          </p:nvGrpSpPr>
          <p:grpSpPr>
            <a:xfrm>
              <a:off x="6238875" y="1009650"/>
              <a:ext cx="285750" cy="76200"/>
              <a:chOff x="47625" y="-38100"/>
              <a:chExt cx="285750" cy="76200"/>
            </a:xfrm>
          </p:grpSpPr>
          <p:pic>
            <p:nvPicPr>
              <p:cNvPr id="213" name="Google Shape;213;p21"/>
              <p:cNvPicPr preferRelativeResize="0"/>
              <p:nvPr/>
            </p:nvPicPr>
            <p:blipFill rotWithShape="1">
              <a:blip r:embed="rId6">
                <a:alphaModFix/>
              </a:blip>
              <a:srcRect/>
              <a:stretch/>
            </p:blipFill>
            <p:spPr>
              <a:xfrm>
                <a:off x="47625" y="-9525"/>
                <a:ext cx="238200" cy="192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4" name="Google Shape;214;p21"/>
              <p:cNvSpPr/>
              <p:nvPr/>
            </p:nvSpPr>
            <p:spPr>
              <a:xfrm>
                <a:off x="257175" y="-381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120000" y="60000"/>
                    </a:moveTo>
                    <a:lnTo>
                      <a:pt x="0" y="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64748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21"/>
            <p:cNvGrpSpPr/>
            <p:nvPr/>
          </p:nvGrpSpPr>
          <p:grpSpPr>
            <a:xfrm>
              <a:off x="6572250" y="0"/>
              <a:ext cx="1809600" cy="2190900"/>
              <a:chOff x="0" y="0"/>
              <a:chExt cx="1809600" cy="2190900"/>
            </a:xfrm>
          </p:grpSpPr>
          <p:sp>
            <p:nvSpPr>
              <p:cNvPr id="216" name="Google Shape;216;p21"/>
              <p:cNvSpPr/>
              <p:nvPr/>
            </p:nvSpPr>
            <p:spPr>
              <a:xfrm>
                <a:off x="0" y="0"/>
                <a:ext cx="1809600" cy="2190900"/>
              </a:xfrm>
              <a:prstGeom prst="roundRect">
                <a:avLst>
                  <a:gd name="adj" fmla="val 5263"/>
                </a:avLst>
              </a:prstGeom>
              <a:solidFill>
                <a:srgbClr val="FFFFFF"/>
              </a:solidFill>
              <a:ln w="1905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21"/>
              <p:cNvSpPr/>
              <p:nvPr/>
            </p:nvSpPr>
            <p:spPr>
              <a:xfrm>
                <a:off x="0" y="0"/>
                <a:ext cx="1809600" cy="76200"/>
              </a:xfrm>
              <a:prstGeom prst="roundRect">
                <a:avLst>
                  <a:gd name="adj" fmla="val 50000"/>
                </a:avLst>
              </a:prstGeom>
              <a:solidFill>
                <a:srgbClr val="64748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21"/>
              <p:cNvSpPr txBox="1"/>
              <p:nvPr/>
            </p:nvSpPr>
            <p:spPr>
              <a:xfrm>
                <a:off x="95250" y="152400"/>
                <a:ext cx="1619100" cy="1905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0" i="0" u="none" strike="noStrike">
                    <a:solidFill>
                      <a:srgbClr val="64748B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Data Sources</a:t>
                </a:r>
                <a:endParaRPr sz="1000" b="0" i="0" u="none" strike="noStrike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950" b="1" i="0" u="none" strike="noStrike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Room &amp; DataStore</a:t>
                </a:r>
                <a:endParaRPr sz="950" b="0" i="0" u="none" strike="noStrike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800" b="0" i="0" u="none" strike="noStrike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Persistenza Locale</a:t>
                </a:r>
                <a:endParaRPr sz="800" b="0" i="0" u="none" strike="noStrike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950" b="1" i="0" u="none" strike="noStrike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Firebase</a:t>
                </a:r>
                <a:endParaRPr sz="950" b="0" i="0" u="none" strike="noStrike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800" b="0" i="0" u="none" strike="noStrike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Autenticazione Cloud</a:t>
                </a:r>
                <a:endParaRPr sz="800" b="0" i="0" u="none" strike="noStrike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950" b="1" i="0" u="none" strike="noStrike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Sensori</a:t>
                </a:r>
                <a:endParaRPr sz="950" b="0" i="0" u="none" strike="noStrike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450"/>
                  </a:spcAft>
                  <a:buNone/>
                </a:pPr>
                <a:r>
                  <a:rPr lang="it" sz="800" b="0" i="0" u="none" strike="noStrike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Foreground Service</a:t>
                </a:r>
                <a:endParaRPr sz="800" b="0" i="0" u="none" strike="noStrike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grpSp>
        <p:nvGrpSpPr>
          <p:cNvPr id="219" name="Google Shape;219;p21"/>
          <p:cNvGrpSpPr/>
          <p:nvPr/>
        </p:nvGrpSpPr>
        <p:grpSpPr>
          <a:xfrm>
            <a:off x="381000" y="3619500"/>
            <a:ext cx="8382000" cy="1047900"/>
            <a:chOff x="0" y="0"/>
            <a:chExt cx="8382000" cy="1047900"/>
          </a:xfrm>
        </p:grpSpPr>
        <p:sp>
          <p:nvSpPr>
            <p:cNvPr id="220" name="Google Shape;220;p21"/>
            <p:cNvSpPr/>
            <p:nvPr/>
          </p:nvSpPr>
          <p:spPr>
            <a:xfrm>
              <a:off x="0" y="0"/>
              <a:ext cx="8382000" cy="1047900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1"/>
            <p:cNvSpPr/>
            <p:nvPr/>
          </p:nvSpPr>
          <p:spPr>
            <a:xfrm>
              <a:off x="0" y="0"/>
              <a:ext cx="76200" cy="10479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1"/>
            <p:cNvSpPr txBox="1"/>
            <p:nvPr/>
          </p:nvSpPr>
          <p:spPr>
            <a:xfrm>
              <a:off x="238125" y="142875"/>
              <a:ext cx="79059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0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Isolamento e Disaccoppiamento</a:t>
              </a:r>
              <a:endParaRPr sz="10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it" sz="1150" b="0">
                  <a:solidFill>
                    <a:srgbClr val="0F4C81"/>
                  </a:solidFill>
                  <a:latin typeface="Inter"/>
                  <a:ea typeface="Inter"/>
                  <a:cs typeface="Inter"/>
                  <a:sym typeface="Inter"/>
                </a:rPr>
                <a:t>La </a:t>
              </a:r>
              <a:r>
                <a:rPr lang="it" sz="115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UI non accede mai direttamente</a:t>
              </a:r>
              <a:r>
                <a:rPr lang="it" sz="1150" b="0">
                  <a:solidFill>
                    <a:srgbClr val="0F4C81"/>
                  </a:solidFill>
                  <a:latin typeface="Inter"/>
                  <a:ea typeface="Inter"/>
                  <a:cs typeface="Inter"/>
                  <a:sym typeface="Inter"/>
                </a:rPr>
                <a:t> al database o ai sensori. La logica applicativa rimane perfettamente isolata, garantendo testabilità, modularità e manutenibilità del codice.</a:t>
              </a:r>
              <a:endParaRPr sz="1150" b="0">
                <a:solidFill>
                  <a:srgbClr val="0F4C8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223" name="Google Shape;223;p21"/>
          <p:cNvPicPr preferRelativeResize="0"/>
          <p:nvPr/>
        </p:nvPicPr>
        <p:blipFill rotWithShape="1">
          <a:blip r:embed="rId7">
            <a:alphaModFix/>
          </a:blip>
          <a:srcRect l="7732" t="37576" r="85880" b="59537"/>
          <a:stretch/>
        </p:blipFill>
        <p:spPr>
          <a:xfrm>
            <a:off x="7639050" y="233400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Background"/>
          <p:cNvSpPr txBox="1"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2" name="Title"/>
          <p:cNvSpPr txBox="1"/>
          <p:nvPr/>
        </p:nvSpPr>
        <p:spPr>
          <a:xfrm>
            <a:off x="381000" y="285750"/>
            <a:ext cx="66675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Iniezione delle Dipendenze: AppContainer</a:t>
            </a:r>
          </a:p>
        </p:txBody>
      </p:sp>
      <p:sp>
        <p:nvSpPr>
          <p:cNvPr id="903" name="XploreChip"/>
          <p:cNvSpPr txBox="1"/>
          <p:nvPr/>
        </p:nvSpPr>
        <p:spPr>
          <a:xfrm>
            <a:off x="7389050" y="247650"/>
            <a:ext cx="15263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Xplore</a:t>
            </a:r>
          </a:p>
        </p:txBody>
      </p:sp>
      <p:sp>
        <p:nvSpPr>
          <p:cNvPr id="910" name="Body"/>
          <p:cNvSpPr txBox="1"/>
          <p:nvPr/>
        </p:nvSpPr>
        <p:spPr>
          <a:xfrm>
            <a:off x="381000" y="1143000"/>
            <a:ext cx="4114800" cy="3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000" b="1" dirty="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Architettura: Composition Root</a:t>
            </a: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it" sz="1200" b="1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Costruzione centralizzata:</a:t>
            </a:r>
            <a:r>
              <a:rPr lang="it" sz="1200" b="0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un singleton collega database, repository e autenticazione, la UI non tocca mai DAO o sorgenti dati.</a:t>
            </a:r>
          </a:p>
          <a:p>
            <a:pPr marL="457200" lvl="0" indent="-317500" algn="l" rtl="0">
              <a:spcBef>
                <a:spcPts val="750"/>
              </a:spcBef>
              <a:spcAft>
                <a:spcPts val="0"/>
              </a:spcAft>
              <a:buSzPts val="1400"/>
              <a:buChar char="●"/>
            </a:pPr>
            <a:r>
              <a:rPr lang="it" sz="1200" b="1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Singleton thread-safe:</a:t>
            </a:r>
            <a:r>
              <a:rPr lang="it" sz="1200" b="0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il database nasce una sola volta, con double-checked locking su un campo volatile.</a:t>
            </a:r>
          </a:p>
          <a:p>
            <a:pPr marL="457200" lvl="0" indent="-317500" algn="l" rtl="0">
              <a:spcBef>
                <a:spcPts val="750"/>
              </a:spcBef>
              <a:spcAft>
                <a:spcPts val="0"/>
              </a:spcAft>
              <a:buSzPts val="1400"/>
              <a:buChar char="●"/>
            </a:pPr>
            <a:r>
              <a:rPr lang="it" sz="1200" b="1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Isolamento per-utente:</a:t>
            </a:r>
            <a:r>
              <a:rPr lang="it" sz="1200" b="0" dirty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ogni repository riceve un userIdProvider, così i dati sono separati per account Firebase.</a:t>
            </a:r>
          </a:p>
        </p:txBody>
      </p:sp>
      <p:sp>
        <p:nvSpPr>
          <p:cNvPr id="911" name="CodePanel"/>
          <p:cNvSpPr txBox="1"/>
          <p:nvPr/>
        </p:nvSpPr>
        <p:spPr>
          <a:xfrm>
            <a:off x="4703900" y="1143000"/>
            <a:ext cx="4059100" cy="36195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115000" tIns="90000" rIns="115000" bIns="100000" anchor="t" anchorCtr="0">
            <a:noAutofit/>
          </a:bodyPr>
          <a:lstStyle/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object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AppContainer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it" sz="900" b="0">
                <a:solidFill>
                  <a:srgbClr val="F0ABFC"/>
                </a:solidFill>
                <a:latin typeface="Consolas"/>
                <a:ea typeface="Consolas"/>
                <a:cs typeface="Consolas"/>
                <a:sym typeface="Consolas"/>
              </a:rPr>
              <a:t>@Volatile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db: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AppDatabase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? = 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null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it" sz="900" b="0">
              <a:solidFill>
                <a:srgbClr val="7DD3F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fun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database(context: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Context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):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AppDatabase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=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db ?: synchronized(this) {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db ?: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Room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.databaseBuilder(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context.applicationContext,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AppDatabase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.java, </a:t>
            </a:r>
            <a:r>
              <a:rPr lang="it" sz="900" b="0">
                <a:solidFill>
                  <a:srgbClr val="86EFAC"/>
                </a:solidFill>
                <a:latin typeface="Consolas"/>
                <a:ea typeface="Consolas"/>
                <a:cs typeface="Consolas"/>
                <a:sym typeface="Consolas"/>
              </a:rPr>
              <a:t>"xplore.db"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).addMigrations(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MIGRATION_5_6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, // v5-v6 ... v11-v12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MIGRATION_11_12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).build().also { db = it }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it" sz="900" b="0">
              <a:solidFill>
                <a:srgbClr val="E2E8F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fun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mapRepository(context: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Context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) =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MapRepositoryImpl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locationFlow =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LocationUpdates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.samples,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poiDao = database(context).poiDao(),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ghostSimulator =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GhostFactory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(),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userIdProvider = { currentUserId() }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)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Google Shape;228;p22"/>
          <p:cNvGrpSpPr/>
          <p:nvPr/>
        </p:nvGrpSpPr>
        <p:grpSpPr>
          <a:xfrm>
            <a:off x="381000" y="247650"/>
            <a:ext cx="8534400" cy="628800"/>
            <a:chOff x="381000" y="247650"/>
            <a:chExt cx="8534400" cy="628800"/>
          </a:xfrm>
        </p:grpSpPr>
        <p:sp>
          <p:nvSpPr>
            <p:cNvPr id="229" name="Google Shape;229;p22"/>
            <p:cNvSpPr txBox="1"/>
            <p:nvPr/>
          </p:nvSpPr>
          <p:spPr>
            <a:xfrm>
              <a:off x="381000" y="285750"/>
              <a:ext cx="66675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24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Architettura ViewModel &amp; Stato UI</a:t>
              </a:r>
              <a:endParaRPr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230" name="Google Shape;230;p22"/>
            <p:cNvGrpSpPr/>
            <p:nvPr/>
          </p:nvGrpSpPr>
          <p:grpSpPr>
            <a:xfrm>
              <a:off x="7639050" y="247650"/>
              <a:ext cx="1276350" cy="304800"/>
              <a:chOff x="19050" y="19050"/>
              <a:chExt cx="1276350" cy="304800"/>
            </a:xfrm>
          </p:grpSpPr>
          <p:sp>
            <p:nvSpPr>
              <p:cNvPr id="231" name="Google Shape;231;p22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232;p22"/>
              <p:cNvSpPr/>
              <p:nvPr/>
            </p:nvSpPr>
            <p:spPr>
              <a:xfrm>
                <a:off x="85725" y="76200"/>
                <a:ext cx="133500" cy="1716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cubicBezTo>
                      <a:pt x="25714" y="0"/>
                      <a:pt x="0" y="20000"/>
                      <a:pt x="0" y="46667"/>
                    </a:cubicBezTo>
                    <a:cubicBezTo>
                      <a:pt x="0" y="80000"/>
                      <a:pt x="60000" y="120000"/>
                      <a:pt x="60000" y="120000"/>
                    </a:cubicBezTo>
                    <a:cubicBezTo>
                      <a:pt x="60000" y="120000"/>
                      <a:pt x="120000" y="80000"/>
                      <a:pt x="120000" y="46667"/>
                    </a:cubicBezTo>
                    <a:cubicBezTo>
                      <a:pt x="120000" y="20000"/>
                      <a:pt x="94286" y="0"/>
                      <a:pt x="600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233;p22"/>
              <p:cNvSpPr/>
              <p:nvPr/>
            </p:nvSpPr>
            <p:spPr>
              <a:xfrm>
                <a:off x="123825" y="104775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234;p22"/>
              <p:cNvSpPr txBox="1"/>
              <p:nvPr/>
            </p:nvSpPr>
            <p:spPr>
              <a:xfrm>
                <a:off x="342900" y="19050"/>
                <a:ext cx="952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6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Xplore</a:t>
                </a:r>
                <a:endParaRPr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235" name="Google Shape;235;p22"/>
            <p:cNvSpPr/>
            <p:nvPr/>
          </p:nvSpPr>
          <p:spPr>
            <a:xfrm>
              <a:off x="381000" y="857250"/>
              <a:ext cx="8382000" cy="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6" name="Google Shape;236;p22"/>
          <p:cNvGrpSpPr/>
          <p:nvPr/>
        </p:nvGrpSpPr>
        <p:grpSpPr>
          <a:xfrm>
            <a:off x="381000" y="1095375"/>
            <a:ext cx="8382000" cy="3476550"/>
            <a:chOff x="0" y="0"/>
            <a:chExt cx="8382000" cy="3476550"/>
          </a:xfrm>
        </p:grpSpPr>
        <p:grpSp>
          <p:nvGrpSpPr>
            <p:cNvPr id="237" name="Google Shape;237;p22"/>
            <p:cNvGrpSpPr/>
            <p:nvPr/>
          </p:nvGrpSpPr>
          <p:grpSpPr>
            <a:xfrm>
              <a:off x="0" y="0"/>
              <a:ext cx="4000500" cy="1666800"/>
              <a:chOff x="0" y="0"/>
              <a:chExt cx="4000500" cy="1666800"/>
            </a:xfrm>
          </p:grpSpPr>
          <p:sp>
            <p:nvSpPr>
              <p:cNvPr id="238" name="Google Shape;238;p22"/>
              <p:cNvSpPr/>
              <p:nvPr/>
            </p:nvSpPr>
            <p:spPr>
              <a:xfrm>
                <a:off x="0" y="0"/>
                <a:ext cx="4000500" cy="1666800"/>
              </a:xfrm>
              <a:prstGeom prst="roundRect">
                <a:avLst>
                  <a:gd name="adj" fmla="val 6857"/>
                </a:avLst>
              </a:prstGeom>
              <a:solidFill>
                <a:srgbClr val="FFFFFF"/>
              </a:solidFill>
              <a:ln w="9525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239;p22"/>
              <p:cNvSpPr/>
              <p:nvPr/>
            </p:nvSpPr>
            <p:spPr>
              <a:xfrm>
                <a:off x="0" y="0"/>
                <a:ext cx="4000500" cy="57300"/>
              </a:xfrm>
              <a:prstGeom prst="roundRect">
                <a:avLst>
                  <a:gd name="adj" fmla="val 50000"/>
                </a:avLst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240;p22"/>
              <p:cNvSpPr txBox="1"/>
              <p:nvPr/>
            </p:nvSpPr>
            <p:spPr>
              <a:xfrm>
                <a:off x="190500" y="152400"/>
                <a:ext cx="3619500" cy="138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1">
                    <a:solidFill>
                      <a:srgbClr val="2563EB"/>
                    </a:solidFill>
                    <a:latin typeface="Inter"/>
                    <a:ea typeface="Inter"/>
                    <a:cs typeface="Inter"/>
                    <a:sym typeface="Inter"/>
                  </a:rPr>
                  <a:t>Architettura dei Componenti</a:t>
                </a:r>
                <a:endParaRPr sz="10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400" b="0">
                    <a:solidFill>
                      <a:srgbClr val="2563EB"/>
                    </a:solidFill>
                    <a:latin typeface="Montserrat SemiBold"/>
                    <a:ea typeface="Montserrat SemiBold"/>
                    <a:cs typeface="Montserrat SemiBold"/>
                    <a:sym typeface="Montserrat SemiBold"/>
                  </a:rPr>
                  <a:t>ViewModel Dedicati</a:t>
                </a:r>
                <a:endParaRPr sz="1400" b="0">
                  <a:solidFill>
                    <a:srgbClr val="2563E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Ogni macrofunzionalità è isolata in un proprio ViewModel responsabile della logica di business: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1000" b="0">
                    <a:solidFill>
                      <a:srgbClr val="0F4C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MapViewModel • TravelJournalViewModel • TrendViewModel • ProfileViewModel • LoginViewModel</a:t>
                </a:r>
                <a:endParaRPr sz="1000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241" name="Google Shape;241;p22"/>
            <p:cNvGrpSpPr/>
            <p:nvPr/>
          </p:nvGrpSpPr>
          <p:grpSpPr>
            <a:xfrm>
              <a:off x="4381500" y="0"/>
              <a:ext cx="4000500" cy="1666800"/>
              <a:chOff x="0" y="0"/>
              <a:chExt cx="4000500" cy="1666800"/>
            </a:xfrm>
          </p:grpSpPr>
          <p:sp>
            <p:nvSpPr>
              <p:cNvPr id="242" name="Google Shape;242;p22"/>
              <p:cNvSpPr/>
              <p:nvPr/>
            </p:nvSpPr>
            <p:spPr>
              <a:xfrm>
                <a:off x="0" y="0"/>
                <a:ext cx="4000500" cy="1666800"/>
              </a:xfrm>
              <a:prstGeom prst="roundRect">
                <a:avLst>
                  <a:gd name="adj" fmla="val 6857"/>
                </a:avLst>
              </a:prstGeom>
              <a:solidFill>
                <a:srgbClr val="FFFFFF"/>
              </a:solidFill>
              <a:ln w="9525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22"/>
              <p:cNvSpPr/>
              <p:nvPr/>
            </p:nvSpPr>
            <p:spPr>
              <a:xfrm>
                <a:off x="0" y="0"/>
                <a:ext cx="4000500" cy="573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p22"/>
              <p:cNvSpPr txBox="1"/>
              <p:nvPr/>
            </p:nvSpPr>
            <p:spPr>
              <a:xfrm>
                <a:off x="190500" y="152400"/>
                <a:ext cx="3619500" cy="138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1">
                    <a:solidFill>
                      <a:srgbClr val="2563EB"/>
                    </a:solidFill>
                    <a:latin typeface="Inter"/>
                    <a:ea typeface="Inter"/>
                    <a:cs typeface="Inter"/>
                    <a:sym typeface="Inter"/>
                  </a:rPr>
                  <a:t>Flusso Dati Reattivo</a:t>
                </a:r>
                <a:endParaRPr sz="10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400" b="0">
                    <a:solidFill>
                      <a:srgbClr val="2563EB"/>
                    </a:solidFill>
                    <a:latin typeface="Montserrat SemiBold"/>
                    <a:ea typeface="Montserrat SemiBold"/>
                    <a:cs typeface="Montserrat SemiBold"/>
                    <a:sym typeface="Montserrat SemiBold"/>
                  </a:rPr>
                  <a:t>StateFlow &amp; Coroutine</a:t>
                </a:r>
                <a:endParaRPr sz="1400" b="0">
                  <a:solidFill>
                    <a:srgbClr val="2563E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I ViewModel espongono stati immutabili tramite </a:t>
                </a:r>
                <a:r>
                  <a:rPr lang="it" sz="1100" b="0">
                    <a:solidFill>
                      <a:srgbClr val="0F4C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StateFlow</a:t>
                </a: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per garantire la consistenza dei dati.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Tutte le operazioni asincrone e in background sono eseguite in sicurezza utilizzando </a:t>
                </a:r>
                <a:r>
                  <a:rPr lang="it" sz="1100" b="0">
                    <a:solidFill>
                      <a:srgbClr val="0F4C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viewModelScope</a:t>
                </a: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.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45" name="Google Shape;245;p22"/>
            <p:cNvGrpSpPr/>
            <p:nvPr/>
          </p:nvGrpSpPr>
          <p:grpSpPr>
            <a:xfrm>
              <a:off x="0" y="1809750"/>
              <a:ext cx="4000500" cy="1666800"/>
              <a:chOff x="0" y="0"/>
              <a:chExt cx="4000500" cy="1666800"/>
            </a:xfrm>
          </p:grpSpPr>
          <p:sp>
            <p:nvSpPr>
              <p:cNvPr id="246" name="Google Shape;246;p22"/>
              <p:cNvSpPr/>
              <p:nvPr/>
            </p:nvSpPr>
            <p:spPr>
              <a:xfrm>
                <a:off x="0" y="0"/>
                <a:ext cx="4000500" cy="1666800"/>
              </a:xfrm>
              <a:prstGeom prst="roundRect">
                <a:avLst>
                  <a:gd name="adj" fmla="val 6857"/>
                </a:avLst>
              </a:prstGeom>
              <a:solidFill>
                <a:srgbClr val="FFFFFF"/>
              </a:solidFill>
              <a:ln w="9525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247;p22"/>
              <p:cNvSpPr/>
              <p:nvPr/>
            </p:nvSpPr>
            <p:spPr>
              <a:xfrm>
                <a:off x="0" y="0"/>
                <a:ext cx="4000500" cy="573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248;p22"/>
              <p:cNvSpPr txBox="1"/>
              <p:nvPr/>
            </p:nvSpPr>
            <p:spPr>
              <a:xfrm>
                <a:off x="190500" y="152400"/>
                <a:ext cx="3619500" cy="138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1">
                    <a:solidFill>
                      <a:srgbClr val="2563EB"/>
                    </a:solidFill>
                    <a:latin typeface="Inter"/>
                    <a:ea typeface="Inter"/>
                    <a:cs typeface="Inter"/>
                    <a:sym typeface="Inter"/>
                  </a:rPr>
                  <a:t>Rendering Dichiarativo</a:t>
                </a:r>
                <a:endParaRPr sz="10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400" b="0">
                    <a:solidFill>
                      <a:srgbClr val="2563EB"/>
                    </a:solidFill>
                    <a:latin typeface="Montserrat SemiBold"/>
                    <a:ea typeface="Montserrat SemiBold"/>
                    <a:cs typeface="Montserrat SemiBold"/>
                    <a:sym typeface="Montserrat SemiBold"/>
                  </a:rPr>
                  <a:t>UI in Jetpack Compose</a:t>
                </a:r>
                <a:endParaRPr sz="1400" b="0">
                  <a:solidFill>
                    <a:srgbClr val="2563E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La UI raccoglie lo stato esposto dal ViewModel e si ricompone reattivamente ad ogni modifica.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it" sz="1100" b="0" i="1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L'interfaccia reagisce automaticamente ai cambiamenti di stato senza aggiornamenti manuali.</a:t>
                </a:r>
                <a:endParaRPr sz="1100" b="0" i="1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49" name="Google Shape;249;p22"/>
            <p:cNvGrpSpPr/>
            <p:nvPr/>
          </p:nvGrpSpPr>
          <p:grpSpPr>
            <a:xfrm>
              <a:off x="4381500" y="1809750"/>
              <a:ext cx="4000500" cy="1666800"/>
              <a:chOff x="0" y="0"/>
              <a:chExt cx="4000500" cy="1666800"/>
            </a:xfrm>
          </p:grpSpPr>
          <p:sp>
            <p:nvSpPr>
              <p:cNvPr id="250" name="Google Shape;250;p22"/>
              <p:cNvSpPr/>
              <p:nvPr/>
            </p:nvSpPr>
            <p:spPr>
              <a:xfrm>
                <a:off x="0" y="0"/>
                <a:ext cx="4000500" cy="1666800"/>
              </a:xfrm>
              <a:prstGeom prst="roundRect">
                <a:avLst>
                  <a:gd name="adj" fmla="val 6857"/>
                </a:avLst>
              </a:prstGeom>
              <a:solidFill>
                <a:srgbClr val="FFFFFF"/>
              </a:solidFill>
              <a:ln w="9525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22"/>
              <p:cNvSpPr/>
              <p:nvPr/>
            </p:nvSpPr>
            <p:spPr>
              <a:xfrm>
                <a:off x="0" y="0"/>
                <a:ext cx="4000500" cy="57300"/>
              </a:xfrm>
              <a:prstGeom prst="roundRect">
                <a:avLst>
                  <a:gd name="adj" fmla="val 50000"/>
                </a:avLst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252;p22"/>
              <p:cNvSpPr txBox="1"/>
              <p:nvPr/>
            </p:nvSpPr>
            <p:spPr>
              <a:xfrm>
                <a:off x="190500" y="152400"/>
                <a:ext cx="3619500" cy="138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1">
                    <a:solidFill>
                      <a:srgbClr val="2563EB"/>
                    </a:solidFill>
                    <a:latin typeface="Inter"/>
                    <a:ea typeface="Inter"/>
                    <a:cs typeface="Inter"/>
                    <a:sym typeface="Inter"/>
                  </a:rPr>
                  <a:t>Unica Base di Verità (Source of Truth)</a:t>
                </a:r>
                <a:endParaRPr sz="10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400" b="0">
                    <a:solidFill>
                      <a:srgbClr val="2563EB"/>
                    </a:solidFill>
                    <a:latin typeface="Montserrat SemiBold"/>
                    <a:ea typeface="Montserrat SemiBold"/>
                    <a:cs typeface="Montserrat SemiBold"/>
                    <a:sym typeface="Montserrat SemiBold"/>
                  </a:rPr>
                  <a:t>Stato Coerente</a:t>
                </a:r>
                <a:endParaRPr sz="1400" b="0">
                  <a:solidFill>
                    <a:srgbClr val="2563E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Garantisce che la schermata non debba coordinare sorgenti indipendenti, ma si limiti a osservare un unico stato coerente.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0F4C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Elimina gli disallineamenti di stato e semplifica il testing.</a:t>
                </a:r>
                <a:endParaRPr sz="1100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pic>
        <p:nvPicPr>
          <p:cNvPr id="253" name="Google Shape;253;p22"/>
          <p:cNvPicPr preferRelativeResize="0"/>
          <p:nvPr/>
        </p:nvPicPr>
        <p:blipFill rotWithShape="1">
          <a:blip r:embed="rId3">
            <a:alphaModFix/>
          </a:blip>
          <a:srcRect l="7732" t="37576" r="85880" b="59537"/>
          <a:stretch/>
        </p:blipFill>
        <p:spPr>
          <a:xfrm>
            <a:off x="7623850" y="247650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8" name="Google Shape;258;p2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59" name="Google Shape;259;p23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3"/>
            <p:cNvSpPr txBox="1"/>
            <p:nvPr/>
          </p:nvSpPr>
          <p:spPr>
            <a:xfrm>
              <a:off x="381000" y="285750"/>
              <a:ext cx="66675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24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Persistenza Reattiva e State Flow</a:t>
              </a:r>
              <a:endParaRPr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261" name="Google Shape;261;p23"/>
            <p:cNvGrpSpPr/>
            <p:nvPr/>
          </p:nvGrpSpPr>
          <p:grpSpPr>
            <a:xfrm>
              <a:off x="7639050" y="247650"/>
              <a:ext cx="1276350" cy="304800"/>
              <a:chOff x="19050" y="19050"/>
              <a:chExt cx="1276350" cy="304800"/>
            </a:xfrm>
          </p:grpSpPr>
          <p:sp>
            <p:nvSpPr>
              <p:cNvPr id="262" name="Google Shape;262;p23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23"/>
              <p:cNvSpPr/>
              <p:nvPr/>
            </p:nvSpPr>
            <p:spPr>
              <a:xfrm>
                <a:off x="85725" y="76200"/>
                <a:ext cx="133500" cy="1716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cubicBezTo>
                      <a:pt x="25714" y="0"/>
                      <a:pt x="0" y="20000"/>
                      <a:pt x="0" y="46667"/>
                    </a:cubicBezTo>
                    <a:cubicBezTo>
                      <a:pt x="0" y="80000"/>
                      <a:pt x="60000" y="120000"/>
                      <a:pt x="60000" y="120000"/>
                    </a:cubicBezTo>
                    <a:cubicBezTo>
                      <a:pt x="60000" y="120000"/>
                      <a:pt x="120000" y="80000"/>
                      <a:pt x="120000" y="46667"/>
                    </a:cubicBezTo>
                    <a:cubicBezTo>
                      <a:pt x="120000" y="20000"/>
                      <a:pt x="94286" y="0"/>
                      <a:pt x="600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23"/>
              <p:cNvSpPr/>
              <p:nvPr/>
            </p:nvSpPr>
            <p:spPr>
              <a:xfrm>
                <a:off x="123825" y="104775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23"/>
              <p:cNvSpPr txBox="1"/>
              <p:nvPr/>
            </p:nvSpPr>
            <p:spPr>
              <a:xfrm>
                <a:off x="342900" y="19050"/>
                <a:ext cx="952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6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Xplore</a:t>
                </a:r>
                <a:endParaRPr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266" name="Google Shape;266;p23"/>
            <p:cNvSpPr/>
            <p:nvPr/>
          </p:nvSpPr>
          <p:spPr>
            <a:xfrm>
              <a:off x="381000" y="857250"/>
              <a:ext cx="8382000" cy="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7" name="Google Shape;267;p23"/>
          <p:cNvGrpSpPr/>
          <p:nvPr/>
        </p:nvGrpSpPr>
        <p:grpSpPr>
          <a:xfrm>
            <a:off x="2571750" y="1143000"/>
            <a:ext cx="4000500" cy="3619500"/>
            <a:chOff x="2190750" y="0"/>
            <a:chExt cx="4000500" cy="3619500"/>
          </a:xfrm>
        </p:grpSpPr>
        <p:sp>
          <p:nvSpPr>
            <p:cNvPr id="268" name="Google Shape;268;p23"/>
            <p:cNvSpPr/>
            <p:nvPr/>
          </p:nvSpPr>
          <p:spPr>
            <a:xfrm>
              <a:off x="2190750" y="0"/>
              <a:ext cx="4000500" cy="3619500"/>
            </a:xfrm>
            <a:prstGeom prst="roundRect">
              <a:avLst>
                <a:gd name="adj" fmla="val 3157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3"/>
            <p:cNvSpPr txBox="1"/>
            <p:nvPr/>
          </p:nvSpPr>
          <p:spPr>
            <a:xfrm>
              <a:off x="2419350" y="228600"/>
              <a:ext cx="3543300" cy="3162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925" b="1" i="0" u="none" strike="noStrike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MapViewModel</a:t>
              </a:r>
              <a:endParaRPr sz="925" b="1" i="0" u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it" sz="1110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Un esempio chiave dell'architettura reattiva è il </a:t>
              </a:r>
              <a:r>
                <a:rPr lang="it" sz="1110" b="1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MapViewModel</a:t>
              </a:r>
              <a:r>
                <a:rPr lang="it" sz="925" b="1" i="0" u="none" strike="noStrike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it" sz="1110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, che orchestra molteplici sorgenti di dati in tempo reale.</a:t>
              </a:r>
              <a:endParaRPr sz="925" b="1" i="0" u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it" sz="1110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Utilizza l'operatore </a:t>
              </a:r>
              <a:r>
                <a:rPr lang="it" sz="1110" b="1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combine</a:t>
              </a:r>
              <a:r>
                <a:rPr lang="it" sz="925" b="1" i="0" u="none" strike="noStrike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it" sz="1110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per unire reattivamente:</a:t>
              </a:r>
              <a:endParaRPr sz="925" b="1" i="0" u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7338" algn="l" rtl="0">
                <a:spcBef>
                  <a:spcPts val="900"/>
                </a:spcBef>
                <a:spcAft>
                  <a:spcPts val="0"/>
                </a:spcAft>
                <a:buClr>
                  <a:srgbClr val="2563EB"/>
                </a:buClr>
                <a:buSzPts val="925"/>
                <a:buFont typeface="Inter"/>
                <a:buChar char="●"/>
              </a:pPr>
              <a:r>
                <a:rPr lang="it" sz="1018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Posizione attuale</a:t>
              </a:r>
              <a:endParaRPr sz="925" b="1" i="0" u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7338" algn="l" rtl="0">
                <a:spcBef>
                  <a:spcPts val="600"/>
                </a:spcBef>
                <a:spcAft>
                  <a:spcPts val="0"/>
                </a:spcAft>
                <a:buClr>
                  <a:srgbClr val="2563EB"/>
                </a:buClr>
                <a:buSzPts val="925"/>
                <a:buFont typeface="Inter"/>
                <a:buChar char="●"/>
              </a:pPr>
              <a:r>
                <a:rPr lang="it" sz="1018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Percorsi registrati</a:t>
              </a:r>
              <a:endParaRPr sz="925" b="1" i="0" u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7338" algn="l" rtl="0">
                <a:spcBef>
                  <a:spcPts val="600"/>
                </a:spcBef>
                <a:spcAft>
                  <a:spcPts val="0"/>
                </a:spcAft>
                <a:buClr>
                  <a:srgbClr val="2563EB"/>
                </a:buClr>
                <a:buSzPts val="925"/>
                <a:buFont typeface="Inter"/>
                <a:buChar char="●"/>
              </a:pPr>
              <a:r>
                <a:rPr lang="it" sz="1018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Punti di interesse (POI)</a:t>
              </a:r>
              <a:endParaRPr sz="925" b="1" i="0" u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7338" algn="l" rtl="0">
                <a:spcBef>
                  <a:spcPts val="600"/>
                </a:spcBef>
                <a:spcAft>
                  <a:spcPts val="0"/>
                </a:spcAft>
                <a:buClr>
                  <a:srgbClr val="2563EB"/>
                </a:buClr>
                <a:buSzPts val="925"/>
                <a:buFont typeface="Inter"/>
                <a:buChar char="●"/>
              </a:pPr>
              <a:r>
                <a:rPr lang="it" sz="1018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Ghost ed elementi tracciati</a:t>
              </a:r>
              <a:endParaRPr sz="925" b="1" i="0" u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7338" algn="l" rtl="0">
                <a:spcBef>
                  <a:spcPts val="600"/>
                </a:spcBef>
                <a:spcAft>
                  <a:spcPts val="0"/>
                </a:spcAft>
                <a:buClr>
                  <a:srgbClr val="2563EB"/>
                </a:buClr>
                <a:buSzPts val="925"/>
                <a:buFont typeface="Inter"/>
                <a:buChar char="●"/>
              </a:pPr>
              <a:r>
                <a:rPr lang="it" sz="1018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Conteggio passi</a:t>
              </a:r>
              <a:endParaRPr sz="925" b="1" i="0" u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900"/>
                </a:spcAft>
                <a:buNone/>
              </a:pPr>
              <a:r>
                <a:rPr lang="it" sz="1110" b="0" i="0" u="none" strike="noStrike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Tutti i flussi confluiscono in un unico stato aggiornato istantaneamente nella schermata Compose.</a:t>
              </a:r>
              <a:endParaRPr sz="925" b="1" i="0" u="none" strike="noStrike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270" name="Google Shape;270;p23"/>
          <p:cNvPicPr preferRelativeResize="0"/>
          <p:nvPr/>
        </p:nvPicPr>
        <p:blipFill rotWithShape="1">
          <a:blip r:embed="rId3">
            <a:alphaModFix/>
          </a:blip>
          <a:srcRect l="7732" t="37576" r="85880" b="59537"/>
          <a:stretch/>
        </p:blipFill>
        <p:spPr>
          <a:xfrm>
            <a:off x="7632000" y="233900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5" name="Google Shape;275;p24"/>
          <p:cNvGrpSpPr/>
          <p:nvPr/>
        </p:nvGrpSpPr>
        <p:grpSpPr>
          <a:xfrm>
            <a:off x="381000" y="247650"/>
            <a:ext cx="8534400" cy="628800"/>
            <a:chOff x="381000" y="247650"/>
            <a:chExt cx="8534400" cy="628800"/>
          </a:xfrm>
        </p:grpSpPr>
        <p:sp>
          <p:nvSpPr>
            <p:cNvPr id="276" name="Google Shape;276;p24"/>
            <p:cNvSpPr txBox="1"/>
            <p:nvPr/>
          </p:nvSpPr>
          <p:spPr>
            <a:xfrm>
              <a:off x="381000" y="285750"/>
              <a:ext cx="66675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22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Flusso di Tracciamento in Background</a:t>
              </a:r>
              <a:endParaRPr sz="22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277" name="Google Shape;277;p24"/>
            <p:cNvGrpSpPr/>
            <p:nvPr/>
          </p:nvGrpSpPr>
          <p:grpSpPr>
            <a:xfrm>
              <a:off x="7639050" y="247650"/>
              <a:ext cx="1276350" cy="304800"/>
              <a:chOff x="19050" y="19050"/>
              <a:chExt cx="1276350" cy="304800"/>
            </a:xfrm>
          </p:grpSpPr>
          <p:sp>
            <p:nvSpPr>
              <p:cNvPr id="278" name="Google Shape;278;p24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24"/>
              <p:cNvSpPr/>
              <p:nvPr/>
            </p:nvSpPr>
            <p:spPr>
              <a:xfrm>
                <a:off x="85725" y="76200"/>
                <a:ext cx="133500" cy="1716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cubicBezTo>
                      <a:pt x="25714" y="0"/>
                      <a:pt x="0" y="20000"/>
                      <a:pt x="0" y="46667"/>
                    </a:cubicBezTo>
                    <a:cubicBezTo>
                      <a:pt x="0" y="80000"/>
                      <a:pt x="60000" y="120000"/>
                      <a:pt x="60000" y="120000"/>
                    </a:cubicBezTo>
                    <a:cubicBezTo>
                      <a:pt x="60000" y="120000"/>
                      <a:pt x="120000" y="80000"/>
                      <a:pt x="120000" y="46667"/>
                    </a:cubicBezTo>
                    <a:cubicBezTo>
                      <a:pt x="120000" y="20000"/>
                      <a:pt x="94286" y="0"/>
                      <a:pt x="600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24"/>
              <p:cNvSpPr/>
              <p:nvPr/>
            </p:nvSpPr>
            <p:spPr>
              <a:xfrm>
                <a:off x="123825" y="104775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281;p24"/>
              <p:cNvSpPr txBox="1"/>
              <p:nvPr/>
            </p:nvSpPr>
            <p:spPr>
              <a:xfrm>
                <a:off x="342900" y="19050"/>
                <a:ext cx="952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6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Xplore</a:t>
                </a:r>
                <a:endParaRPr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282" name="Google Shape;282;p24"/>
            <p:cNvSpPr/>
            <p:nvPr/>
          </p:nvSpPr>
          <p:spPr>
            <a:xfrm>
              <a:off x="381000" y="857250"/>
              <a:ext cx="8382000" cy="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" name="Google Shape;283;p24"/>
          <p:cNvGrpSpPr/>
          <p:nvPr/>
        </p:nvGrpSpPr>
        <p:grpSpPr>
          <a:xfrm>
            <a:off x="790575" y="1285875"/>
            <a:ext cx="7591425" cy="3190950"/>
            <a:chOff x="28575" y="95250"/>
            <a:chExt cx="7591425" cy="3190950"/>
          </a:xfrm>
        </p:grpSpPr>
        <p:sp>
          <p:nvSpPr>
            <p:cNvPr id="284" name="Google Shape;284;p24"/>
            <p:cNvSpPr/>
            <p:nvPr/>
          </p:nvSpPr>
          <p:spPr>
            <a:xfrm>
              <a:off x="104775" y="228600"/>
              <a:ext cx="19200" cy="2571900"/>
            </a:xfrm>
            <a:prstGeom prst="rect">
              <a:avLst/>
            </a:prstGeom>
            <a:solidFill>
              <a:srgbClr val="E2E8F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5" name="Google Shape;285;p24"/>
            <p:cNvGrpSpPr/>
            <p:nvPr/>
          </p:nvGrpSpPr>
          <p:grpSpPr>
            <a:xfrm>
              <a:off x="28575" y="95250"/>
              <a:ext cx="7591425" cy="619200"/>
              <a:chOff x="28575" y="95250"/>
              <a:chExt cx="7591425" cy="619200"/>
            </a:xfrm>
          </p:grpSpPr>
          <p:sp>
            <p:nvSpPr>
              <p:cNvPr id="286" name="Google Shape;286;p24"/>
              <p:cNvSpPr/>
              <p:nvPr/>
            </p:nvSpPr>
            <p:spPr>
              <a:xfrm>
                <a:off x="28575" y="142875"/>
                <a:ext cx="171600" cy="1716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24"/>
              <p:cNvSpPr/>
              <p:nvPr/>
            </p:nvSpPr>
            <p:spPr>
              <a:xfrm>
                <a:off x="76200" y="190500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24"/>
              <p:cNvSpPr txBox="1"/>
              <p:nvPr/>
            </p:nvSpPr>
            <p:spPr>
              <a:xfrm>
                <a:off x="381000" y="95250"/>
                <a:ext cx="72390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300" b="0">
                    <a:solidFill>
                      <a:srgbClr val="0F4C81"/>
                    </a:solidFill>
                    <a:latin typeface="Montserrat SemiBold"/>
                    <a:ea typeface="Montserrat SemiBold"/>
                    <a:cs typeface="Montserrat SemiBold"/>
                    <a:sym typeface="Montserrat SemiBold"/>
                  </a:rPr>
                  <a:t>1. Avvio Foreground Service</a:t>
                </a:r>
                <a:endParaRPr sz="1300" b="0">
                  <a:solidFill>
                    <a:srgbClr val="0F4C81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Inizializzazione di </a:t>
                </a:r>
                <a:r>
                  <a:rPr lang="it" sz="1100" b="0">
                    <a:solidFill>
                      <a:srgbClr val="0F4C81"/>
                    </a:solidFill>
                    <a:latin typeface="Arial"/>
                    <a:ea typeface="Arial"/>
                    <a:cs typeface="Arial"/>
                    <a:sym typeface="Arial"/>
                  </a:rPr>
                  <a:t>TrackingService</a:t>
                </a: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con notifica persistente per garantire l'esecuzione continua anche con app in background o schermo spento.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89" name="Google Shape;289;p24"/>
            <p:cNvGrpSpPr/>
            <p:nvPr/>
          </p:nvGrpSpPr>
          <p:grpSpPr>
            <a:xfrm>
              <a:off x="28575" y="952500"/>
              <a:ext cx="7591425" cy="619200"/>
              <a:chOff x="28575" y="95250"/>
              <a:chExt cx="7591425" cy="619200"/>
            </a:xfrm>
          </p:grpSpPr>
          <p:sp>
            <p:nvSpPr>
              <p:cNvPr id="290" name="Google Shape;290;p24"/>
              <p:cNvSpPr/>
              <p:nvPr/>
            </p:nvSpPr>
            <p:spPr>
              <a:xfrm>
                <a:off x="28575" y="142875"/>
                <a:ext cx="171600" cy="1716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24"/>
              <p:cNvSpPr/>
              <p:nvPr/>
            </p:nvSpPr>
            <p:spPr>
              <a:xfrm>
                <a:off x="76200" y="190500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24"/>
              <p:cNvSpPr txBox="1"/>
              <p:nvPr/>
            </p:nvSpPr>
            <p:spPr>
              <a:xfrm>
                <a:off x="381000" y="95250"/>
                <a:ext cx="72390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300" b="0">
                    <a:solidFill>
                      <a:srgbClr val="0F4C81"/>
                    </a:solidFill>
                    <a:latin typeface="Montserrat SemiBold"/>
                    <a:ea typeface="Montserrat SemiBold"/>
                    <a:cs typeface="Montserrat SemiBold"/>
                    <a:sym typeface="Montserrat SemiBold"/>
                  </a:rPr>
                  <a:t>2. Lettura Sensori (GPS e Contapassi)</a:t>
                </a:r>
                <a:endParaRPr sz="1300" b="0">
                  <a:solidFill>
                    <a:srgbClr val="0F4C81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Ricezione continua della posizione geografica dal provider Android e contestuale lettura dei dati dal sensore contapassi dispositivo.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93" name="Google Shape;293;p24"/>
            <p:cNvGrpSpPr/>
            <p:nvPr/>
          </p:nvGrpSpPr>
          <p:grpSpPr>
            <a:xfrm>
              <a:off x="28575" y="1809750"/>
              <a:ext cx="7591425" cy="619200"/>
              <a:chOff x="28575" y="95250"/>
              <a:chExt cx="7591425" cy="619200"/>
            </a:xfrm>
          </p:grpSpPr>
          <p:sp>
            <p:nvSpPr>
              <p:cNvPr id="294" name="Google Shape;294;p24"/>
              <p:cNvSpPr/>
              <p:nvPr/>
            </p:nvSpPr>
            <p:spPr>
              <a:xfrm>
                <a:off x="28575" y="142875"/>
                <a:ext cx="171600" cy="1716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24"/>
              <p:cNvSpPr/>
              <p:nvPr/>
            </p:nvSpPr>
            <p:spPr>
              <a:xfrm>
                <a:off x="76200" y="190500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296" name="Google Shape;296;p24"/>
              <p:cNvSpPr txBox="1"/>
              <p:nvPr/>
            </p:nvSpPr>
            <p:spPr>
              <a:xfrm>
                <a:off x="381000" y="95250"/>
                <a:ext cx="72390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300" b="0">
                    <a:solidFill>
                      <a:srgbClr val="0F4C81"/>
                    </a:solidFill>
                    <a:latin typeface="Montserrat SemiBold"/>
                    <a:ea typeface="Montserrat SemiBold"/>
                    <a:cs typeface="Montserrat SemiBold"/>
                    <a:sym typeface="Montserrat SemiBold"/>
                  </a:rPr>
                  <a:t>3. Filtraggio delle Coordinate</a:t>
                </a:r>
                <a:endParaRPr sz="1300" b="0">
                  <a:solidFill>
                    <a:srgbClr val="0F4C81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Validazione e pulizia delle coordinate ricevute secondo criteri definiti di distanza minima, intervallo temporale e livello di accuratezza.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97" name="Google Shape;297;p24"/>
            <p:cNvGrpSpPr/>
            <p:nvPr/>
          </p:nvGrpSpPr>
          <p:grpSpPr>
            <a:xfrm>
              <a:off x="28575" y="2667000"/>
              <a:ext cx="7591425" cy="619200"/>
              <a:chOff x="28575" y="95250"/>
              <a:chExt cx="7591425" cy="619200"/>
            </a:xfrm>
          </p:grpSpPr>
          <p:sp>
            <p:nvSpPr>
              <p:cNvPr id="298" name="Google Shape;298;p24"/>
              <p:cNvSpPr/>
              <p:nvPr/>
            </p:nvSpPr>
            <p:spPr>
              <a:xfrm>
                <a:off x="28575" y="142875"/>
                <a:ext cx="171600" cy="171600"/>
              </a:xfrm>
              <a:prstGeom prst="ellipse">
                <a:avLst/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24"/>
              <p:cNvSpPr/>
              <p:nvPr/>
            </p:nvSpPr>
            <p:spPr>
              <a:xfrm>
                <a:off x="76200" y="190500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24"/>
              <p:cNvSpPr txBox="1"/>
              <p:nvPr/>
            </p:nvSpPr>
            <p:spPr>
              <a:xfrm>
                <a:off x="381000" y="95250"/>
                <a:ext cx="72390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300" b="0">
                    <a:solidFill>
                      <a:srgbClr val="0F4C81"/>
                    </a:solidFill>
                    <a:latin typeface="Montserrat SemiBold"/>
                    <a:ea typeface="Montserrat SemiBold"/>
                    <a:cs typeface="Montserrat SemiBold"/>
                    <a:sym typeface="Montserrat SemiBold"/>
                  </a:rPr>
                  <a:t>4. Salvataggio Coroutine in Room</a:t>
                </a:r>
                <a:endParaRPr sz="1300" b="0">
                  <a:solidFill>
                    <a:srgbClr val="0F4C81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Esecuzione delle operazioni di persistenza su database Room tramite Coroutine su un gestore di scope dedicato del servizio, slegato dal ciclo di vita UI.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pic>
        <p:nvPicPr>
          <p:cNvPr id="301" name="Google Shape;301;p24"/>
          <p:cNvPicPr preferRelativeResize="0"/>
          <p:nvPr/>
        </p:nvPicPr>
        <p:blipFill rotWithShape="1">
          <a:blip r:embed="rId3">
            <a:alphaModFix/>
          </a:blip>
          <a:srcRect l="7732" t="37576" r="85880" b="59537"/>
          <a:stretch/>
        </p:blipFill>
        <p:spPr>
          <a:xfrm>
            <a:off x="7615700" y="247650"/>
            <a:ext cx="311575" cy="30967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294;p24">
            <a:extLst>
              <a:ext uri="{FF2B5EF4-FFF2-40B4-BE49-F238E27FC236}">
                <a16:creationId xmlns:a16="http://schemas.microsoft.com/office/drawing/2014/main" id="{9652AABA-5EFD-C60A-4D76-36D6BDA652CA}"/>
              </a:ext>
            </a:extLst>
          </p:cNvPr>
          <p:cNvSpPr/>
          <p:nvPr/>
        </p:nvSpPr>
        <p:spPr>
          <a:xfrm>
            <a:off x="790575" y="3905250"/>
            <a:ext cx="171600" cy="1716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295;p24">
            <a:extLst>
              <a:ext uri="{FF2B5EF4-FFF2-40B4-BE49-F238E27FC236}">
                <a16:creationId xmlns:a16="http://schemas.microsoft.com/office/drawing/2014/main" id="{8A005FAD-930B-EC86-C877-7A4661F0F12A}"/>
              </a:ext>
            </a:extLst>
          </p:cNvPr>
          <p:cNvSpPr/>
          <p:nvPr/>
        </p:nvSpPr>
        <p:spPr>
          <a:xfrm>
            <a:off x="837843" y="3955548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5"/>
          <p:cNvSpPr txBox="1"/>
          <p:nvPr/>
        </p:nvSpPr>
        <p:spPr>
          <a:xfrm>
            <a:off x="381000" y="238125"/>
            <a:ext cx="68580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2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Flusso di Tracciamento in Background</a:t>
            </a:r>
            <a:endParaRPr sz="24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307" name="Google Shape;307;p25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308" name="Google Shape;308;p25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5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5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5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12" name="Google Shape;312;p25"/>
          <p:cNvGrpSpPr/>
          <p:nvPr/>
        </p:nvGrpSpPr>
        <p:grpSpPr>
          <a:xfrm>
            <a:off x="381000" y="861000"/>
            <a:ext cx="4000500" cy="4005050"/>
            <a:chOff x="0" y="0"/>
            <a:chExt cx="4000500" cy="4005050"/>
          </a:xfrm>
        </p:grpSpPr>
        <p:sp>
          <p:nvSpPr>
            <p:cNvPr id="313" name="Google Shape;313;p25"/>
            <p:cNvSpPr/>
            <p:nvPr/>
          </p:nvSpPr>
          <p:spPr>
            <a:xfrm>
              <a:off x="0" y="0"/>
              <a:ext cx="4000500" cy="3714900"/>
            </a:xfrm>
            <a:prstGeom prst="roundRect">
              <a:avLst>
                <a:gd name="adj" fmla="val 3076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5"/>
            <p:cNvSpPr/>
            <p:nvPr/>
          </p:nvSpPr>
          <p:spPr>
            <a:xfrm>
              <a:off x="0" y="0"/>
              <a:ext cx="40005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20000"/>
                  </a:moveTo>
                  <a:cubicBezTo>
                    <a:pt x="0" y="53700"/>
                    <a:pt x="1534" y="0"/>
                    <a:pt x="3429" y="0"/>
                  </a:cubicBezTo>
                  <a:lnTo>
                    <a:pt x="116571" y="0"/>
                  </a:lnTo>
                  <a:cubicBezTo>
                    <a:pt x="118466" y="0"/>
                    <a:pt x="120000" y="53700"/>
                    <a:pt x="120000" y="120000"/>
                  </a:cubicBezTo>
                  <a:lnTo>
                    <a:pt x="120000" y="80000"/>
                  </a:lnTo>
                  <a:lnTo>
                    <a:pt x="0" y="80000"/>
                  </a:lnTo>
                  <a:close/>
                </a:path>
              </a:pathLst>
            </a:cu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5"/>
            <p:cNvSpPr txBox="1"/>
            <p:nvPr/>
          </p:nvSpPr>
          <p:spPr>
            <a:xfrm>
              <a:off x="228600" y="114300"/>
              <a:ext cx="35433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388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Gestione Lifecycle Service</a:t>
              </a:r>
              <a:endParaRPr sz="1388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it" sz="879" b="1">
                  <a:solidFill>
                    <a:srgbClr val="2563E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onStartCommand</a:t>
              </a:r>
              <a:endParaRPr sz="879" b="1">
                <a:solidFill>
                  <a:srgbClr val="2563E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450"/>
                </a:spcAft>
                <a:buNone/>
              </a:pPr>
              <a:r>
                <a:rPr lang="it" sz="971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All'avvio verifica richieste di interruzione; altrimenti si promuove a </a:t>
              </a:r>
              <a:r>
                <a:rPr lang="it" sz="971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foreground service</a:t>
              </a:r>
              <a:r>
                <a:rPr lang="it" sz="971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, avvia il riconoscimento attività e apre la sessione.</a:t>
              </a:r>
              <a:r>
                <a:rPr lang="it" sz="97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it" sz="879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START_STICKY ricrea il servizio se terminato</a:t>
              </a:r>
              <a:r>
                <a:rPr lang="it" sz="879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.</a:t>
              </a:r>
              <a:endParaRPr sz="879" b="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pic>
          <p:nvPicPr>
            <p:cNvPr id="316" name="Google Shape;316;p25"/>
            <p:cNvPicPr preferRelativeResize="0"/>
            <p:nvPr/>
          </p:nvPicPr>
          <p:blipFill rotWithShape="1">
            <a:blip r:embed="rId3">
              <a:alphaModFix/>
            </a:blip>
            <a:srcRect t="5130" b="40413"/>
            <a:stretch/>
          </p:blipFill>
          <p:spPr>
            <a:xfrm>
              <a:off x="700800" y="1143650"/>
              <a:ext cx="2598900" cy="2861400"/>
            </a:xfrm>
            <a:prstGeom prst="roundRect">
              <a:avLst>
                <a:gd name="adj" fmla="val 3902"/>
              </a:avLst>
            </a:prstGeom>
            <a:noFill/>
            <a:ln>
              <a:noFill/>
            </a:ln>
          </p:spPr>
        </p:pic>
      </p:grpSp>
      <p:pic>
        <p:nvPicPr>
          <p:cNvPr id="317" name="Google Shape;317;p25"/>
          <p:cNvPicPr preferRelativeResize="0"/>
          <p:nvPr/>
        </p:nvPicPr>
        <p:blipFill rotWithShape="1">
          <a:blip r:embed="rId4">
            <a:alphaModFix/>
          </a:blip>
          <a:srcRect l="7732" t="37576" r="85880" b="59537"/>
          <a:stretch/>
        </p:blipFill>
        <p:spPr>
          <a:xfrm>
            <a:off x="7601825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8" name="Google Shape;318;p25"/>
          <p:cNvGrpSpPr/>
          <p:nvPr/>
        </p:nvGrpSpPr>
        <p:grpSpPr>
          <a:xfrm>
            <a:off x="4778800" y="861025"/>
            <a:ext cx="4000500" cy="4005000"/>
            <a:chOff x="0" y="0"/>
            <a:chExt cx="4000500" cy="4005000"/>
          </a:xfrm>
        </p:grpSpPr>
        <p:sp>
          <p:nvSpPr>
            <p:cNvPr id="319" name="Google Shape;319;p25"/>
            <p:cNvSpPr/>
            <p:nvPr/>
          </p:nvSpPr>
          <p:spPr>
            <a:xfrm>
              <a:off x="0" y="0"/>
              <a:ext cx="4000500" cy="3714900"/>
            </a:xfrm>
            <a:prstGeom prst="roundRect">
              <a:avLst>
                <a:gd name="adj" fmla="val 3076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25"/>
            <p:cNvSpPr/>
            <p:nvPr/>
          </p:nvSpPr>
          <p:spPr>
            <a:xfrm>
              <a:off x="0" y="0"/>
              <a:ext cx="40005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20000"/>
                  </a:moveTo>
                  <a:cubicBezTo>
                    <a:pt x="0" y="53700"/>
                    <a:pt x="1534" y="0"/>
                    <a:pt x="3429" y="0"/>
                  </a:cubicBezTo>
                  <a:lnTo>
                    <a:pt x="116571" y="0"/>
                  </a:lnTo>
                  <a:cubicBezTo>
                    <a:pt x="118466" y="0"/>
                    <a:pt x="120000" y="53700"/>
                    <a:pt x="120000" y="120000"/>
                  </a:cubicBezTo>
                  <a:lnTo>
                    <a:pt x="120000" y="80000"/>
                  </a:lnTo>
                  <a:lnTo>
                    <a:pt x="0" y="8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25"/>
            <p:cNvSpPr txBox="1"/>
            <p:nvPr/>
          </p:nvSpPr>
          <p:spPr>
            <a:xfrm>
              <a:off x="228600" y="190500"/>
              <a:ext cx="35433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388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Elaborazione Sensori &amp; Tempo</a:t>
              </a:r>
              <a:endParaRPr sz="1388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it" sz="879" b="1">
                  <a:solidFill>
                    <a:srgbClr val="2563EB"/>
                  </a:solidFill>
                  <a:latin typeface="Montserrat"/>
                  <a:ea typeface="Montserrat"/>
                  <a:cs typeface="Montserrat"/>
                  <a:sym typeface="Montserrat"/>
                </a:rPr>
                <a:t>onSensorChanged</a:t>
              </a:r>
              <a:endParaRPr sz="879" b="1">
                <a:solidFill>
                  <a:srgbClr val="2563E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it" sz="971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Il sensore fornisce un contatore cumulativo di passi. Il timestamp viene convertito in </a:t>
              </a:r>
              <a:r>
                <a:rPr lang="it" sz="971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tempo UTC</a:t>
              </a:r>
              <a:r>
                <a:rPr lang="it" sz="971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per una registrazione accurata.</a:t>
              </a:r>
              <a:endParaRPr sz="971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it" sz="879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• Garantisce la corretta sequenza temporale</a:t>
              </a:r>
              <a:br>
                <a:rPr lang="it" sz="879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</a:br>
              <a:r>
                <a:rPr lang="it" sz="879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• Gestisce elaborazioni in ritardo nel callback</a:t>
              </a:r>
              <a:endParaRPr sz="879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  <p:pic>
          <p:nvPicPr>
            <p:cNvPr id="322" name="Google Shape;322;p25"/>
            <p:cNvPicPr preferRelativeResize="0"/>
            <p:nvPr/>
          </p:nvPicPr>
          <p:blipFill rotWithShape="1">
            <a:blip r:embed="rId3">
              <a:alphaModFix/>
            </a:blip>
            <a:srcRect t="59189"/>
            <a:stretch/>
          </p:blipFill>
          <p:spPr>
            <a:xfrm>
              <a:off x="420496" y="1505100"/>
              <a:ext cx="3029700" cy="2499900"/>
            </a:xfrm>
            <a:prstGeom prst="roundRect">
              <a:avLst>
                <a:gd name="adj" fmla="val 3902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Background"/>
          <p:cNvSpPr txBox="1"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2" name="Title"/>
          <p:cNvSpPr txBox="1"/>
          <p:nvPr/>
        </p:nvSpPr>
        <p:spPr>
          <a:xfrm>
            <a:off x="381000" y="285750"/>
            <a:ext cx="66675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Ottimizzazione Batteria: TrackingMode</a:t>
            </a:r>
          </a:p>
        </p:txBody>
      </p:sp>
      <p:sp>
        <p:nvSpPr>
          <p:cNvPr id="903" name="XploreChip"/>
          <p:cNvSpPr txBox="1"/>
          <p:nvPr/>
        </p:nvSpPr>
        <p:spPr>
          <a:xfrm>
            <a:off x="7389050" y="247650"/>
            <a:ext cx="15263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Xplore</a:t>
            </a:r>
          </a:p>
        </p:txBody>
      </p:sp>
      <p:sp>
        <p:nvSpPr>
          <p:cNvPr id="910" name="Body"/>
          <p:cNvSpPr txBox="1"/>
          <p:nvPr/>
        </p:nvSpPr>
        <p:spPr>
          <a:xfrm>
            <a:off x="381000" y="1143000"/>
            <a:ext cx="4114800" cy="3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0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Gestione Energetica del Service</a:t>
            </a: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Tre profili di campionamento: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la precisione richiesta al provider segue lo stato reale dell’app, non un valore fisso.</a:t>
            </a:r>
          </a:p>
          <a:p>
            <a:pPr marL="457200" lvl="0" indent="-317500" algn="l" rtl="0">
              <a:spcBef>
                <a:spcPts val="750"/>
              </a:spcBef>
              <a:spcAft>
                <a:spcPts val="0"/>
              </a:spcAft>
              <a:buSzPts val="1400"/>
              <a:buChar char="●"/>
            </a:pP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ACTIVE: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viaggio in registrazione o app a schermo: GPS ad alta precisione per un percorso fedele.</a:t>
            </a:r>
          </a:p>
          <a:p>
            <a:pPr marL="457200" lvl="0" indent="-317500" algn="l" rtl="0">
              <a:spcBef>
                <a:spcPts val="750"/>
              </a:spcBef>
              <a:spcAft>
                <a:spcPts val="0"/>
              </a:spcAft>
              <a:buSzPts val="1400"/>
              <a:buChar char="●"/>
            </a:pP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IDLE: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nessun viaggio e app in background: provider economico con batching delle posizioni.</a:t>
            </a:r>
          </a:p>
          <a:p>
            <a:pPr marL="457200" lvl="0" indent="-317500" algn="l" rtl="0">
              <a:spcBef>
                <a:spcPts val="750"/>
              </a:spcBef>
              <a:spcAft>
                <a:spcPts val="0"/>
              </a:spcAft>
              <a:buSzPts val="1400"/>
              <a:buChar char="●"/>
            </a:pP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PAUSED: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utente fermo secondo Activity Recognition: nessuna posizione richiesta; le transizioni di contesto risvegliano il tracciamento.</a:t>
            </a:r>
          </a:p>
          <a:p>
            <a:pPr marL="457200" lvl="0" indent="-317500" algn="l" rtl="0">
              <a:spcBef>
                <a:spcPts val="750"/>
              </a:spcBef>
              <a:spcAft>
                <a:spcPts val="0"/>
              </a:spcAft>
              <a:buSzPts val="1400"/>
              <a:buChar char="●"/>
            </a:pP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Funzione pura, testata: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la decisione è unit-testabile senza dispositivo; lo stato UNKNOWN degrada in sicurezza a IDLE.</a:t>
            </a:r>
          </a:p>
        </p:txBody>
      </p:sp>
      <p:sp>
        <p:nvSpPr>
          <p:cNvPr id="911" name="CodePanel"/>
          <p:cNvSpPr txBox="1"/>
          <p:nvPr/>
        </p:nvSpPr>
        <p:spPr>
          <a:xfrm>
            <a:off x="4703900" y="1143000"/>
            <a:ext cx="4059100" cy="36195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115000" tIns="90000" rIns="115000" bIns="100000" anchor="t" anchorCtr="0">
            <a:noAutofit/>
          </a:bodyPr>
          <a:lstStyle/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enum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TrackingMode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IDLE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PAUSED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;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it" sz="900" b="0">
              <a:solidFill>
                <a:srgbClr val="E2E8F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companion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object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8CA3C7"/>
                </a:solidFill>
                <a:latin typeface="Consolas"/>
                <a:ea typeface="Consolas"/>
                <a:cs typeface="Consolas"/>
                <a:sym typeface="Consolas"/>
              </a:rPr>
              <a:t>    // Funzione pura dei 3 segnali: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8CA3C7"/>
                </a:solidFill>
                <a:latin typeface="Consolas"/>
                <a:ea typeface="Consolas"/>
                <a:cs typeface="Consolas"/>
                <a:sym typeface="Consolas"/>
              </a:rPr>
              <a:t>    // unit-testabile senza device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fun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of(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tripActive: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Boolean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appInForeground: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Boolean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motion: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MotionState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UNKNOWN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):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TrackingMode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when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{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tripActive || appInForeground -&gt;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ACTIVE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motion ==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MotionState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STILL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-&gt;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PAUSED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it" sz="900" b="0">
                <a:solidFill>
                  <a:srgbClr val="7DD3FC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-&gt;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IDLE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// </a:t>
            </a:r>
            <a:r>
              <a:rPr lang="it" sz="900" b="0">
                <a:solidFill>
                  <a:srgbClr val="93C5FD"/>
                </a:solidFill>
                <a:latin typeface="Consolas"/>
                <a:ea typeface="Consolas"/>
                <a:cs typeface="Consolas"/>
                <a:sym typeface="Consolas"/>
              </a:rPr>
              <a:t>UNKNOWN</a:t>
            </a: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-&gt; sicuro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  }</a:t>
            </a:r>
          </a:p>
          <a:p>
            <a:pPr marL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0">
                <a:solidFill>
                  <a:srgbClr val="E2E8F0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7" name="Google Shape;327;p26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328" name="Google Shape;328;p26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26"/>
            <p:cNvSpPr txBox="1"/>
            <p:nvPr/>
          </p:nvSpPr>
          <p:spPr>
            <a:xfrm>
              <a:off x="381000" y="285750"/>
              <a:ext cx="66675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24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Rilevamento Punti di Interesse (POI)</a:t>
              </a:r>
              <a:endParaRPr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330" name="Google Shape;330;p26"/>
            <p:cNvGrpSpPr/>
            <p:nvPr/>
          </p:nvGrpSpPr>
          <p:grpSpPr>
            <a:xfrm>
              <a:off x="7639050" y="247650"/>
              <a:ext cx="1276350" cy="304800"/>
              <a:chOff x="19050" y="19050"/>
              <a:chExt cx="1276350" cy="304800"/>
            </a:xfrm>
          </p:grpSpPr>
          <p:sp>
            <p:nvSpPr>
              <p:cNvPr id="331" name="Google Shape;331;p26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26"/>
              <p:cNvSpPr/>
              <p:nvPr/>
            </p:nvSpPr>
            <p:spPr>
              <a:xfrm>
                <a:off x="85725" y="76200"/>
                <a:ext cx="133500" cy="1716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cubicBezTo>
                      <a:pt x="25714" y="0"/>
                      <a:pt x="0" y="20000"/>
                      <a:pt x="0" y="46667"/>
                    </a:cubicBezTo>
                    <a:cubicBezTo>
                      <a:pt x="0" y="80000"/>
                      <a:pt x="60000" y="120000"/>
                      <a:pt x="60000" y="120000"/>
                    </a:cubicBezTo>
                    <a:cubicBezTo>
                      <a:pt x="60000" y="120000"/>
                      <a:pt x="120000" y="80000"/>
                      <a:pt x="120000" y="46667"/>
                    </a:cubicBezTo>
                    <a:cubicBezTo>
                      <a:pt x="120000" y="20000"/>
                      <a:pt x="94286" y="0"/>
                      <a:pt x="600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26"/>
              <p:cNvSpPr/>
              <p:nvPr/>
            </p:nvSpPr>
            <p:spPr>
              <a:xfrm>
                <a:off x="123825" y="104775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26"/>
              <p:cNvSpPr txBox="1"/>
              <p:nvPr/>
            </p:nvSpPr>
            <p:spPr>
              <a:xfrm>
                <a:off x="342900" y="19050"/>
                <a:ext cx="952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6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Xplore</a:t>
                </a:r>
                <a:endParaRPr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335" name="Google Shape;335;p26"/>
            <p:cNvSpPr/>
            <p:nvPr/>
          </p:nvSpPr>
          <p:spPr>
            <a:xfrm>
              <a:off x="381000" y="857250"/>
              <a:ext cx="8382000" cy="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6" name="Google Shape;336;p26"/>
          <p:cNvSpPr txBox="1"/>
          <p:nvPr/>
        </p:nvSpPr>
        <p:spPr>
          <a:xfrm>
            <a:off x="381000" y="1143000"/>
            <a:ext cx="3810000" cy="3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0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rPr>
              <a:t>Implementazione Custom</a:t>
            </a:r>
            <a:endParaRPr sz="1000" b="1">
              <a:solidFill>
                <a:srgbClr val="2563E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Il rilevamento dei punti di interesse vicini </a:t>
            </a: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non utilizza l'API Android Geofencing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2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Calcolo Autonomo: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L'applicazione calcola autonomamente la distanza tra le coordinate dell'utente e i POI salvati in Room.</a:t>
            </a:r>
            <a:endParaRPr sz="12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317500" algn="l" rtl="0">
              <a:spcBef>
                <a:spcPts val="750"/>
              </a:spcBef>
              <a:spcAft>
                <a:spcPts val="0"/>
              </a:spcAft>
              <a:buSzPts val="1400"/>
              <a:buChar char="●"/>
            </a:pP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Condizioni di Attivazione: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Il POI è considerato vicino se la distanza è inferiore al raggio configurato e l'accuratezza del GPS è sufficiente.</a:t>
            </a:r>
            <a:endParaRPr sz="12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317500" algn="l" rtl="0">
              <a:spcBef>
                <a:spcPts val="750"/>
              </a:spcBef>
              <a:spcAft>
                <a:spcPts val="600"/>
              </a:spcAft>
              <a:buSzPts val="1400"/>
              <a:buChar char="●"/>
            </a:pP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Anti-Duplicazione: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Per evitare notifiche duplicate, viene memorizzato l'identificativo dell'ultimo POI notificato, riattivando l'avviso solo uscendo e rientrando nell'area.</a:t>
            </a:r>
            <a:endParaRPr sz="12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37" name="Google Shape;337;p26" title="Geo-fencing-illustration-1024x768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3900" y="1143000"/>
            <a:ext cx="3962399" cy="2971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26"/>
          <p:cNvPicPr preferRelativeResize="0"/>
          <p:nvPr/>
        </p:nvPicPr>
        <p:blipFill rotWithShape="1">
          <a:blip r:embed="rId4">
            <a:alphaModFix/>
          </a:blip>
          <a:srcRect l="7732" t="37576" r="85880" b="59537"/>
          <a:stretch/>
        </p:blipFill>
        <p:spPr>
          <a:xfrm>
            <a:off x="7615700" y="233900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7"/>
          <p:cNvSpPr txBox="1"/>
          <p:nvPr/>
        </p:nvSpPr>
        <p:spPr>
          <a:xfrm>
            <a:off x="381000" y="238125"/>
            <a:ext cx="68580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Rilevamento Punti di Interesse (POI)</a:t>
            </a:r>
            <a:endParaRPr sz="22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344" name="Google Shape;344;p27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345" name="Google Shape;345;p27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27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27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27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349" name="Google Shape;349;p27"/>
          <p:cNvPicPr preferRelativeResize="0"/>
          <p:nvPr/>
        </p:nvPicPr>
        <p:blipFill rotWithShape="1">
          <a:blip r:embed="rId3">
            <a:alphaModFix/>
          </a:blip>
          <a:srcRect l="7732" t="37576" r="85880" b="59537"/>
          <a:stretch/>
        </p:blipFill>
        <p:spPr>
          <a:xfrm>
            <a:off x="7601825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0" name="Google Shape;350;p27"/>
          <p:cNvGrpSpPr/>
          <p:nvPr/>
        </p:nvGrpSpPr>
        <p:grpSpPr>
          <a:xfrm>
            <a:off x="177250" y="861000"/>
            <a:ext cx="3049981" cy="3053276"/>
            <a:chOff x="112050" y="861000"/>
            <a:chExt cx="3049981" cy="3053276"/>
          </a:xfrm>
        </p:grpSpPr>
        <p:grpSp>
          <p:nvGrpSpPr>
            <p:cNvPr id="351" name="Google Shape;351;p27"/>
            <p:cNvGrpSpPr/>
            <p:nvPr/>
          </p:nvGrpSpPr>
          <p:grpSpPr>
            <a:xfrm>
              <a:off x="112050" y="861000"/>
              <a:ext cx="3049981" cy="3053276"/>
              <a:chOff x="0" y="0"/>
              <a:chExt cx="4000500" cy="3714900"/>
            </a:xfrm>
          </p:grpSpPr>
          <p:sp>
            <p:nvSpPr>
              <p:cNvPr id="352" name="Google Shape;352;p27"/>
              <p:cNvSpPr/>
              <p:nvPr/>
            </p:nvSpPr>
            <p:spPr>
              <a:xfrm>
                <a:off x="0" y="0"/>
                <a:ext cx="4000500" cy="3714900"/>
              </a:xfrm>
              <a:prstGeom prst="roundRect">
                <a:avLst>
                  <a:gd name="adj" fmla="val 3076"/>
                </a:avLst>
              </a:prstGeom>
              <a:solidFill>
                <a:srgbClr val="FFFFFF"/>
              </a:solidFill>
              <a:ln w="109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Google Shape;353;p27"/>
              <p:cNvSpPr/>
              <p:nvPr/>
            </p:nvSpPr>
            <p:spPr>
              <a:xfrm>
                <a:off x="0" y="0"/>
                <a:ext cx="40005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0" y="53700"/>
                      <a:pt x="1534" y="0"/>
                      <a:pt x="3429" y="0"/>
                    </a:cubicBezTo>
                    <a:lnTo>
                      <a:pt x="116571" y="0"/>
                    </a:lnTo>
                    <a:cubicBezTo>
                      <a:pt x="118466" y="0"/>
                      <a:pt x="120000" y="53700"/>
                      <a:pt x="120000" y="120000"/>
                    </a:cubicBezTo>
                    <a:lnTo>
                      <a:pt x="120000" y="80000"/>
                    </a:lnTo>
                    <a:lnTo>
                      <a:pt x="0" y="80000"/>
                    </a:lnTo>
                    <a:close/>
                  </a:path>
                </a:pathLst>
              </a:cu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27"/>
              <p:cNvSpPr txBox="1"/>
              <p:nvPr/>
            </p:nvSpPr>
            <p:spPr>
              <a:xfrm>
                <a:off x="228600" y="114300"/>
                <a:ext cx="3543300" cy="123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58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Viewmodel e Haversine</a:t>
                </a:r>
                <a:endParaRPr sz="1058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marL="0" lvl="0" indent="0" algn="l" rtl="0">
                  <a:spcBef>
                    <a:spcPts val="229"/>
                  </a:spcBef>
                  <a:spcAft>
                    <a:spcPts val="343"/>
                  </a:spcAft>
                  <a:buNone/>
                </a:pPr>
                <a:r>
                  <a:rPr lang="it" sz="74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Il ViewModel combina la posizione corrente con l’elenco dei POI. La funzione PoiProximity.near filtra i punti che si trovano all’interno del raggio configurato. Tra quelli trovati viene scelto il più vicino usando la distanza calcolata con la formula di Haversine.</a:t>
                </a:r>
                <a:endParaRPr sz="670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pic>
          <p:nvPicPr>
            <p:cNvPr id="355" name="Google Shape;355;p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68450" y="1776050"/>
              <a:ext cx="2137163" cy="20894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56" name="Google Shape;356;p27"/>
          <p:cNvGrpSpPr/>
          <p:nvPr/>
        </p:nvGrpSpPr>
        <p:grpSpPr>
          <a:xfrm>
            <a:off x="5865425" y="861000"/>
            <a:ext cx="3049981" cy="3053276"/>
            <a:chOff x="0" y="0"/>
            <a:chExt cx="4000500" cy="3714900"/>
          </a:xfrm>
        </p:grpSpPr>
        <p:sp>
          <p:nvSpPr>
            <p:cNvPr id="357" name="Google Shape;357;p27"/>
            <p:cNvSpPr/>
            <p:nvPr/>
          </p:nvSpPr>
          <p:spPr>
            <a:xfrm>
              <a:off x="0" y="0"/>
              <a:ext cx="4000500" cy="3714900"/>
            </a:xfrm>
            <a:prstGeom prst="roundRect">
              <a:avLst>
                <a:gd name="adj" fmla="val 3076"/>
              </a:avLst>
            </a:prstGeom>
            <a:solidFill>
              <a:srgbClr val="FFFFFF"/>
            </a:solidFill>
            <a:ln w="109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7"/>
            <p:cNvSpPr/>
            <p:nvPr/>
          </p:nvSpPr>
          <p:spPr>
            <a:xfrm>
              <a:off x="0" y="0"/>
              <a:ext cx="40005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20000"/>
                  </a:moveTo>
                  <a:cubicBezTo>
                    <a:pt x="0" y="53700"/>
                    <a:pt x="1534" y="0"/>
                    <a:pt x="3429" y="0"/>
                  </a:cubicBezTo>
                  <a:lnTo>
                    <a:pt x="116571" y="0"/>
                  </a:lnTo>
                  <a:cubicBezTo>
                    <a:pt x="118466" y="0"/>
                    <a:pt x="120000" y="53700"/>
                    <a:pt x="120000" y="120000"/>
                  </a:cubicBezTo>
                  <a:lnTo>
                    <a:pt x="120000" y="80000"/>
                  </a:lnTo>
                  <a:lnTo>
                    <a:pt x="0" y="80000"/>
                  </a:lnTo>
                  <a:close/>
                </a:path>
              </a:pathLst>
            </a:cu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27"/>
            <p:cNvSpPr txBox="1"/>
            <p:nvPr/>
          </p:nvSpPr>
          <p:spPr>
            <a:xfrm>
              <a:off x="228600" y="114300"/>
              <a:ext cx="35433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058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PoiDetailSheet</a:t>
              </a:r>
              <a:endParaRPr sz="1058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0" lvl="0" indent="0" algn="l" rtl="0">
                <a:spcBef>
                  <a:spcPts val="229"/>
                </a:spcBef>
                <a:spcAft>
                  <a:spcPts val="343"/>
                </a:spcAft>
                <a:buNone/>
              </a:pPr>
              <a:r>
                <a:rPr lang="it" sz="74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La stessa PoiDetailSheet viene utilizzata sia per il tap manuale sul marker sia per l’apertura automatica causata dal geofencing.</a:t>
              </a:r>
              <a:endParaRPr sz="670" b="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360" name="Google Shape;360;p27"/>
          <p:cNvGrpSpPr/>
          <p:nvPr/>
        </p:nvGrpSpPr>
        <p:grpSpPr>
          <a:xfrm>
            <a:off x="3047013" y="1753575"/>
            <a:ext cx="3049981" cy="3053276"/>
            <a:chOff x="0" y="0"/>
            <a:chExt cx="4000500" cy="3714900"/>
          </a:xfrm>
        </p:grpSpPr>
        <p:sp>
          <p:nvSpPr>
            <p:cNvPr id="361" name="Google Shape;361;p27"/>
            <p:cNvSpPr/>
            <p:nvPr/>
          </p:nvSpPr>
          <p:spPr>
            <a:xfrm>
              <a:off x="0" y="0"/>
              <a:ext cx="4000500" cy="3714900"/>
            </a:xfrm>
            <a:prstGeom prst="roundRect">
              <a:avLst>
                <a:gd name="adj" fmla="val 3076"/>
              </a:avLst>
            </a:prstGeom>
            <a:solidFill>
              <a:srgbClr val="FFFFFF"/>
            </a:solidFill>
            <a:ln w="109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7"/>
            <p:cNvSpPr/>
            <p:nvPr/>
          </p:nvSpPr>
          <p:spPr>
            <a:xfrm>
              <a:off x="0" y="0"/>
              <a:ext cx="40005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20000"/>
                  </a:moveTo>
                  <a:cubicBezTo>
                    <a:pt x="0" y="53700"/>
                    <a:pt x="1534" y="0"/>
                    <a:pt x="3429" y="0"/>
                  </a:cubicBezTo>
                  <a:lnTo>
                    <a:pt x="116571" y="0"/>
                  </a:lnTo>
                  <a:cubicBezTo>
                    <a:pt x="118466" y="0"/>
                    <a:pt x="120000" y="53700"/>
                    <a:pt x="120000" y="120000"/>
                  </a:cubicBezTo>
                  <a:lnTo>
                    <a:pt x="120000" y="80000"/>
                  </a:lnTo>
                  <a:lnTo>
                    <a:pt x="0" y="80000"/>
                  </a:lnTo>
                  <a:close/>
                </a:path>
              </a:pathLst>
            </a:cu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7"/>
            <p:cNvSpPr txBox="1"/>
            <p:nvPr/>
          </p:nvSpPr>
          <p:spPr>
            <a:xfrm>
              <a:off x="228600" y="114300"/>
              <a:ext cx="35433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058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Timerizzazione POI</a:t>
              </a:r>
              <a:endParaRPr sz="1058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0" lvl="0" indent="0" algn="l" rtl="0">
                <a:spcBef>
                  <a:spcPts val="229"/>
                </a:spcBef>
                <a:spcAft>
                  <a:spcPts val="343"/>
                </a:spcAft>
                <a:buNone/>
              </a:pPr>
              <a:r>
                <a:rPr lang="it" sz="74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La scheda non viene aperta immediatamente: viene applicato un ritardo di cinque secondi. Inoltre, l’insieme shownGeofencePoiIds impedisce di mostrare più volte lo stesso POI durante il viaggio corrente.</a:t>
              </a:r>
              <a:endParaRPr sz="670" b="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pic>
        <p:nvPicPr>
          <p:cNvPr id="364" name="Google Shape;36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9750" y="1916575"/>
            <a:ext cx="2581324" cy="179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286963" y="2571750"/>
            <a:ext cx="2518726" cy="2289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43763" y="3814763"/>
            <a:ext cx="1362000" cy="790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1" name="Google Shape;371;p28"/>
          <p:cNvGrpSpPr/>
          <p:nvPr/>
        </p:nvGrpSpPr>
        <p:grpSpPr>
          <a:xfrm>
            <a:off x="381000" y="247650"/>
            <a:ext cx="8534400" cy="590700"/>
            <a:chOff x="381000" y="247650"/>
            <a:chExt cx="8534400" cy="590700"/>
          </a:xfrm>
        </p:grpSpPr>
        <p:sp>
          <p:nvSpPr>
            <p:cNvPr id="372" name="Google Shape;372;p28"/>
            <p:cNvSpPr txBox="1"/>
            <p:nvPr/>
          </p:nvSpPr>
          <p:spPr>
            <a:xfrm>
              <a:off x="381000" y="266700"/>
              <a:ext cx="66675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24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Persistenza Locale: Room e DataStore</a:t>
              </a:r>
              <a:endParaRPr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373" name="Google Shape;373;p28"/>
            <p:cNvGrpSpPr/>
            <p:nvPr/>
          </p:nvGrpSpPr>
          <p:grpSpPr>
            <a:xfrm>
              <a:off x="7639050" y="247650"/>
              <a:ext cx="1276350" cy="304800"/>
              <a:chOff x="19050" y="19050"/>
              <a:chExt cx="1276350" cy="304800"/>
            </a:xfrm>
          </p:grpSpPr>
          <p:sp>
            <p:nvSpPr>
              <p:cNvPr id="374" name="Google Shape;374;p28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Google Shape;375;p28"/>
              <p:cNvSpPr/>
              <p:nvPr/>
            </p:nvSpPr>
            <p:spPr>
              <a:xfrm>
                <a:off x="85725" y="76200"/>
                <a:ext cx="133500" cy="1716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cubicBezTo>
                      <a:pt x="25714" y="0"/>
                      <a:pt x="0" y="20000"/>
                      <a:pt x="0" y="46667"/>
                    </a:cubicBezTo>
                    <a:cubicBezTo>
                      <a:pt x="0" y="80000"/>
                      <a:pt x="60000" y="120000"/>
                      <a:pt x="60000" y="120000"/>
                    </a:cubicBezTo>
                    <a:cubicBezTo>
                      <a:pt x="60000" y="120000"/>
                      <a:pt x="120000" y="80000"/>
                      <a:pt x="120000" y="46667"/>
                    </a:cubicBezTo>
                    <a:cubicBezTo>
                      <a:pt x="120000" y="20000"/>
                      <a:pt x="94286" y="0"/>
                      <a:pt x="600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28"/>
              <p:cNvSpPr/>
              <p:nvPr/>
            </p:nvSpPr>
            <p:spPr>
              <a:xfrm>
                <a:off x="123825" y="104775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28"/>
              <p:cNvSpPr txBox="1"/>
              <p:nvPr/>
            </p:nvSpPr>
            <p:spPr>
              <a:xfrm>
                <a:off x="342900" y="19050"/>
                <a:ext cx="952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6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Xplore</a:t>
                </a:r>
                <a:endParaRPr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pic>
          <p:nvPicPr>
            <p:cNvPr id="378" name="Google Shape;378;p28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81000" y="819150"/>
              <a:ext cx="8382000" cy="192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79" name="Google Shape;379;p28"/>
          <p:cNvGrpSpPr/>
          <p:nvPr/>
        </p:nvGrpSpPr>
        <p:grpSpPr>
          <a:xfrm>
            <a:off x="381000" y="1047750"/>
            <a:ext cx="8382000" cy="3619500"/>
            <a:chOff x="381000" y="0"/>
            <a:chExt cx="8382000" cy="3619500"/>
          </a:xfrm>
        </p:grpSpPr>
        <p:grpSp>
          <p:nvGrpSpPr>
            <p:cNvPr id="380" name="Google Shape;380;p28"/>
            <p:cNvGrpSpPr/>
            <p:nvPr/>
          </p:nvGrpSpPr>
          <p:grpSpPr>
            <a:xfrm>
              <a:off x="381000" y="0"/>
              <a:ext cx="4000500" cy="3619500"/>
              <a:chOff x="0" y="0"/>
              <a:chExt cx="4000500" cy="3619500"/>
            </a:xfrm>
          </p:grpSpPr>
          <p:sp>
            <p:nvSpPr>
              <p:cNvPr id="381" name="Google Shape;381;p28"/>
              <p:cNvSpPr/>
              <p:nvPr/>
            </p:nvSpPr>
            <p:spPr>
              <a:xfrm>
                <a:off x="0" y="0"/>
                <a:ext cx="4000500" cy="3619500"/>
              </a:xfrm>
              <a:prstGeom prst="roundRect">
                <a:avLst>
                  <a:gd name="adj" fmla="val 3157"/>
                </a:avLst>
              </a:prstGeom>
              <a:solidFill>
                <a:srgbClr val="FFFFFF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28"/>
              <p:cNvSpPr/>
              <p:nvPr/>
            </p:nvSpPr>
            <p:spPr>
              <a:xfrm>
                <a:off x="0" y="0"/>
                <a:ext cx="40005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0" y="88174"/>
                      <a:pt x="361" y="57652"/>
                      <a:pt x="1004" y="35147"/>
                    </a:cubicBezTo>
                    <a:cubicBezTo>
                      <a:pt x="1647" y="12643"/>
                      <a:pt x="2519" y="0"/>
                      <a:pt x="3429" y="0"/>
                    </a:cubicBezTo>
                    <a:lnTo>
                      <a:pt x="116571" y="0"/>
                    </a:lnTo>
                    <a:cubicBezTo>
                      <a:pt x="117480" y="-4"/>
                      <a:pt x="118353" y="12637"/>
                      <a:pt x="118996" y="35142"/>
                    </a:cubicBezTo>
                    <a:cubicBezTo>
                      <a:pt x="119639" y="57647"/>
                      <a:pt x="120000" y="88171"/>
                      <a:pt x="120000" y="120000"/>
                    </a:cubicBezTo>
                    <a:lnTo>
                      <a:pt x="120000" y="80000"/>
                    </a:lnTo>
                    <a:lnTo>
                      <a:pt x="0" y="80000"/>
                    </a:lnTo>
                    <a:close/>
                  </a:path>
                </a:pathLst>
              </a:cu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28"/>
              <p:cNvSpPr txBox="1"/>
              <p:nvPr/>
            </p:nvSpPr>
            <p:spPr>
              <a:xfrm>
                <a:off x="228600" y="228600"/>
                <a:ext cx="3543300" cy="316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8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Room</a:t>
                </a:r>
                <a:endParaRPr sz="18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000" b="0">
                    <a:solidFill>
                      <a:srgbClr val="2563EB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Database Relazionale Completo</a:t>
                </a:r>
                <a:endParaRPr sz="1000" b="0">
                  <a:solidFill>
                    <a:srgbClr val="2563E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0" lvl="0" indent="0" algn="l" rtl="0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Gestisce la persistenza strutturata per entità complesse e dati ad alta densità relazionale: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8450" algn="l" rtl="0">
                  <a:spcBef>
                    <a:spcPts val="1050"/>
                  </a:spcBef>
                  <a:spcAft>
                    <a:spcPts val="0"/>
                  </a:spcAft>
                  <a:buClr>
                    <a:srgbClr val="1E293B"/>
                  </a:buClr>
                  <a:buSzPts val="1100"/>
                  <a:buFont typeface="Inter"/>
                  <a:buChar char="●"/>
                </a:pPr>
                <a:r>
                  <a:rPr lang="it" sz="11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Viaggi:</a:t>
                </a:r>
                <a:r>
                  <a:rPr lang="it" sz="11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itinerari e informazioni generali</a:t>
                </a:r>
                <a:endParaRPr sz="11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8450" algn="l" rtl="0">
                  <a:spcBef>
                    <a:spcPts val="450"/>
                  </a:spcBef>
                  <a:spcAft>
                    <a:spcPts val="0"/>
                  </a:spcAft>
                  <a:buClr>
                    <a:srgbClr val="1E293B"/>
                  </a:buClr>
                  <a:buSzPts val="1100"/>
                  <a:buFont typeface="Inter"/>
                  <a:buChar char="●"/>
                </a:pPr>
                <a:r>
                  <a:rPr lang="it" sz="11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Percorsi GPS:</a:t>
                </a:r>
                <a:r>
                  <a:rPr lang="it" sz="11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tracciamento e coordinate</a:t>
                </a:r>
                <a:endParaRPr sz="11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8450" algn="l" rtl="0">
                  <a:spcBef>
                    <a:spcPts val="450"/>
                  </a:spcBef>
                  <a:spcAft>
                    <a:spcPts val="0"/>
                  </a:spcAft>
                  <a:buClr>
                    <a:srgbClr val="1E293B"/>
                  </a:buClr>
                  <a:buSzPts val="1100"/>
                  <a:buFont typeface="Inter"/>
                  <a:buChar char="●"/>
                </a:pPr>
                <a:r>
                  <a:rPr lang="it" sz="11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Passi giornalieri:</a:t>
                </a:r>
                <a:r>
                  <a:rPr lang="it" sz="11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metriche e attivita fisiche</a:t>
                </a:r>
                <a:endParaRPr sz="11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8450" algn="l" rtl="0">
                  <a:spcBef>
                    <a:spcPts val="450"/>
                  </a:spcBef>
                  <a:spcAft>
                    <a:spcPts val="0"/>
                  </a:spcAft>
                  <a:buClr>
                    <a:srgbClr val="1E293B"/>
                  </a:buClr>
                  <a:buSzPts val="1100"/>
                  <a:buFont typeface="Inter"/>
                  <a:buChar char="●"/>
                </a:pPr>
                <a:r>
                  <a:rPr lang="it" sz="11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Città &amp; POI:</a:t>
                </a:r>
                <a:r>
                  <a:rPr lang="it" sz="11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punti di interesse e località</a:t>
                </a:r>
                <a:endParaRPr sz="11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8450" algn="l" rtl="0">
                  <a:spcBef>
                    <a:spcPts val="450"/>
                  </a:spcBef>
                  <a:spcAft>
                    <a:spcPts val="450"/>
                  </a:spcAft>
                  <a:buClr>
                    <a:srgbClr val="1E293B"/>
                  </a:buClr>
                  <a:buSzPts val="1100"/>
                  <a:buFont typeface="Inter"/>
                  <a:buChar char="●"/>
                </a:pPr>
                <a:r>
                  <a:rPr lang="it" sz="11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Voti:</a:t>
                </a:r>
                <a:r>
                  <a:rPr lang="it" sz="11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valutazioni e recensioni utente</a:t>
                </a:r>
                <a:endParaRPr sz="11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84" name="Google Shape;384;p28"/>
            <p:cNvGrpSpPr/>
            <p:nvPr/>
          </p:nvGrpSpPr>
          <p:grpSpPr>
            <a:xfrm>
              <a:off x="4762500" y="0"/>
              <a:ext cx="4000500" cy="3619500"/>
              <a:chOff x="0" y="0"/>
              <a:chExt cx="4000500" cy="3619500"/>
            </a:xfrm>
          </p:grpSpPr>
          <p:sp>
            <p:nvSpPr>
              <p:cNvPr id="385" name="Google Shape;385;p28"/>
              <p:cNvSpPr/>
              <p:nvPr/>
            </p:nvSpPr>
            <p:spPr>
              <a:xfrm>
                <a:off x="0" y="0"/>
                <a:ext cx="4000500" cy="3619500"/>
              </a:xfrm>
              <a:prstGeom prst="roundRect">
                <a:avLst>
                  <a:gd name="adj" fmla="val 3157"/>
                </a:avLst>
              </a:prstGeom>
              <a:solidFill>
                <a:srgbClr val="FFFFFF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28"/>
              <p:cNvSpPr/>
              <p:nvPr/>
            </p:nvSpPr>
            <p:spPr>
              <a:xfrm>
                <a:off x="0" y="0"/>
                <a:ext cx="40005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0" y="88174"/>
                      <a:pt x="361" y="57652"/>
                      <a:pt x="1004" y="35147"/>
                    </a:cubicBezTo>
                    <a:cubicBezTo>
                      <a:pt x="1647" y="12643"/>
                      <a:pt x="2519" y="0"/>
                      <a:pt x="3429" y="0"/>
                    </a:cubicBezTo>
                    <a:lnTo>
                      <a:pt x="116571" y="0"/>
                    </a:lnTo>
                    <a:cubicBezTo>
                      <a:pt x="117480" y="-4"/>
                      <a:pt x="118353" y="12637"/>
                      <a:pt x="118996" y="35142"/>
                    </a:cubicBezTo>
                    <a:cubicBezTo>
                      <a:pt x="119639" y="57647"/>
                      <a:pt x="120000" y="88171"/>
                      <a:pt x="120000" y="120000"/>
                    </a:cubicBezTo>
                    <a:lnTo>
                      <a:pt x="120000" y="80000"/>
                    </a:lnTo>
                    <a:lnTo>
                      <a:pt x="0" y="80000"/>
                    </a:lnTo>
                    <a:close/>
                  </a:path>
                </a:pathLst>
              </a:cu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28"/>
              <p:cNvSpPr txBox="1"/>
              <p:nvPr/>
            </p:nvSpPr>
            <p:spPr>
              <a:xfrm>
                <a:off x="228600" y="228600"/>
                <a:ext cx="3543300" cy="22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800" b="1">
                    <a:solidFill>
                      <a:srgbClr val="2563EB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Jetpack DataStore</a:t>
                </a:r>
                <a:endParaRPr sz="1800" b="1">
                  <a:solidFill>
                    <a:srgbClr val="2563EB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000" b="0">
                    <a:solidFill>
                      <a:srgbClr val="0F4C81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Chiave-Valore Leggero</a:t>
                </a:r>
                <a:endParaRPr sz="1000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0" lvl="0" indent="0" algn="l" rtl="0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Impiegato per la memorizzazione di preferenze utente semplici e persistenti: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8450" algn="l" rtl="0">
                  <a:spcBef>
                    <a:spcPts val="1050"/>
                  </a:spcBef>
                  <a:spcAft>
                    <a:spcPts val="0"/>
                  </a:spcAft>
                  <a:buClr>
                    <a:srgbClr val="1E293B"/>
                  </a:buClr>
                  <a:buSzPts val="1100"/>
                  <a:buFont typeface="Inter"/>
                  <a:buChar char="●"/>
                </a:pPr>
                <a:r>
                  <a:rPr lang="it" sz="11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Tema dell'app:</a:t>
                </a:r>
                <a:r>
                  <a:rPr lang="it" sz="11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preferenze d'interfaccia</a:t>
                </a:r>
                <a:endParaRPr sz="11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8450" algn="l" rtl="0">
                  <a:spcBef>
                    <a:spcPts val="450"/>
                  </a:spcBef>
                  <a:spcAft>
                    <a:spcPts val="0"/>
                  </a:spcAft>
                  <a:buClr>
                    <a:srgbClr val="1E293B"/>
                  </a:buClr>
                  <a:buSzPts val="1100"/>
                  <a:buFont typeface="Inter"/>
                  <a:buChar char="●"/>
                </a:pPr>
                <a:r>
                  <a:rPr lang="it" sz="11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Modalità anonima:</a:t>
                </a:r>
                <a:r>
                  <a:rPr lang="it" sz="11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impostazioni di privacy</a:t>
                </a:r>
                <a:endParaRPr sz="11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8450" algn="l" rtl="0">
                  <a:spcBef>
                    <a:spcPts val="450"/>
                  </a:spcBef>
                  <a:spcAft>
                    <a:spcPts val="0"/>
                  </a:spcAft>
                  <a:buClr>
                    <a:srgbClr val="1E293B"/>
                  </a:buClr>
                  <a:buSzPts val="1100"/>
                  <a:buFont typeface="Inter"/>
                  <a:buChar char="●"/>
                </a:pPr>
                <a:r>
                  <a:rPr lang="it" sz="11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Visibilità percorsi:</a:t>
                </a:r>
                <a:r>
                  <a:rPr lang="it" sz="11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stato di condivisione</a:t>
                </a:r>
                <a:endParaRPr sz="11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8450" algn="l" rtl="0">
                  <a:spcBef>
                    <a:spcPts val="450"/>
                  </a:spcBef>
                  <a:spcAft>
                    <a:spcPts val="450"/>
                  </a:spcAft>
                  <a:buClr>
                    <a:srgbClr val="1E293B"/>
                  </a:buClr>
                  <a:buSzPts val="1100"/>
                  <a:buFont typeface="Inter"/>
                  <a:buChar char="●"/>
                </a:pPr>
                <a:r>
                  <a:rPr lang="it" sz="11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Stato onboarding:</a:t>
                </a:r>
                <a:r>
                  <a:rPr lang="it" sz="11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completamento guida iniziale</a:t>
                </a:r>
                <a:endParaRPr sz="11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grpSp>
            <p:nvGrpSpPr>
              <p:cNvPr id="388" name="Google Shape;388;p28"/>
              <p:cNvGrpSpPr/>
              <p:nvPr/>
            </p:nvGrpSpPr>
            <p:grpSpPr>
              <a:xfrm>
                <a:off x="190500" y="2714625"/>
                <a:ext cx="3619500" cy="714300"/>
                <a:chOff x="0" y="0"/>
                <a:chExt cx="3619500" cy="714300"/>
              </a:xfrm>
            </p:grpSpPr>
            <p:sp>
              <p:nvSpPr>
                <p:cNvPr id="389" name="Google Shape;389;p28"/>
                <p:cNvSpPr/>
                <p:nvPr/>
              </p:nvSpPr>
              <p:spPr>
                <a:xfrm>
                  <a:off x="0" y="0"/>
                  <a:ext cx="3619500" cy="714300"/>
                </a:xfrm>
                <a:prstGeom prst="roundRect">
                  <a:avLst>
                    <a:gd name="adj" fmla="val 10666"/>
                  </a:avLst>
                </a:prstGeom>
                <a:solidFill>
                  <a:srgbClr val="DBEAFE"/>
                </a:solidFill>
                <a:ln w="9525" cap="flat" cmpd="sng">
                  <a:solidFill>
                    <a:srgbClr val="BFDBF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90" name="Google Shape;390;p28"/>
                <p:cNvSpPr txBox="1"/>
                <p:nvPr/>
              </p:nvSpPr>
              <p:spPr>
                <a:xfrm>
                  <a:off x="152400" y="114300"/>
                  <a:ext cx="3314700" cy="485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it" sz="925" b="1">
                      <a:solidFill>
                        <a:srgbClr val="2563EB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Integrazione Firebase:</a:t>
                  </a:r>
                  <a:br>
                    <a:rPr lang="it" sz="925" b="0">
                      <a:solidFill>
                        <a:srgbClr val="0F4C81"/>
                      </a:solidFill>
                      <a:latin typeface="Inter Medium"/>
                      <a:ea typeface="Inter Medium"/>
                      <a:cs typeface="Inter Medium"/>
                      <a:sym typeface="Inter Medium"/>
                    </a:rPr>
                  </a:br>
                  <a:r>
                    <a:rPr lang="it" sz="925" b="0">
                      <a:solidFill>
                        <a:srgbClr val="0F4C81"/>
                      </a:solidFill>
                      <a:latin typeface="Inter Medium"/>
                      <a:ea typeface="Inter Medium"/>
                      <a:cs typeface="Inter Medium"/>
                      <a:sym typeface="Inter Medium"/>
                    </a:rPr>
                    <a:t>Le preferenze sono associate all'identificativo Firebase per supportare il cambio account in modo trasparente.</a:t>
                  </a:r>
                  <a:endParaRPr sz="925" b="0">
                    <a:solidFill>
                      <a:srgbClr val="0F4C81"/>
                    </a:solidFill>
                    <a:latin typeface="Inter Medium"/>
                    <a:ea typeface="Inter Medium"/>
                    <a:cs typeface="Inter Medium"/>
                    <a:sym typeface="Inter Medium"/>
                  </a:endParaRPr>
                </a:p>
              </p:txBody>
            </p:sp>
          </p:grpSp>
        </p:grpSp>
      </p:grpSp>
      <p:pic>
        <p:nvPicPr>
          <p:cNvPr id="391" name="Google Shape;391;p28"/>
          <p:cNvPicPr preferRelativeResize="0"/>
          <p:nvPr/>
        </p:nvPicPr>
        <p:blipFill rotWithShape="1">
          <a:blip r:embed="rId5">
            <a:alphaModFix/>
          </a:blip>
          <a:srcRect l="7732" t="37576" r="85880" b="59537"/>
          <a:stretch/>
        </p:blipFill>
        <p:spPr>
          <a:xfrm>
            <a:off x="7615675" y="209475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9"/>
          <p:cNvSpPr txBox="1"/>
          <p:nvPr/>
        </p:nvSpPr>
        <p:spPr>
          <a:xfrm>
            <a:off x="381000" y="238125"/>
            <a:ext cx="68580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Persistenza Locale: Room e DataStore</a:t>
            </a:r>
            <a:endParaRPr sz="22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397" name="Google Shape;397;p29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398" name="Google Shape;398;p29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9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9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9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402" name="Google Shape;402;p29"/>
          <p:cNvPicPr preferRelativeResize="0"/>
          <p:nvPr/>
        </p:nvPicPr>
        <p:blipFill rotWithShape="1">
          <a:blip r:embed="rId3">
            <a:alphaModFix/>
          </a:blip>
          <a:srcRect l="7732" t="37576" r="85880" b="59537"/>
          <a:stretch/>
        </p:blipFill>
        <p:spPr>
          <a:xfrm>
            <a:off x="7601825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3" name="Google Shape;403;p29"/>
          <p:cNvGrpSpPr/>
          <p:nvPr/>
        </p:nvGrpSpPr>
        <p:grpSpPr>
          <a:xfrm>
            <a:off x="4770650" y="775775"/>
            <a:ext cx="4000500" cy="4211582"/>
            <a:chOff x="0" y="0"/>
            <a:chExt cx="4000500" cy="3714900"/>
          </a:xfrm>
        </p:grpSpPr>
        <p:sp>
          <p:nvSpPr>
            <p:cNvPr id="404" name="Google Shape;404;p29"/>
            <p:cNvSpPr/>
            <p:nvPr/>
          </p:nvSpPr>
          <p:spPr>
            <a:xfrm>
              <a:off x="0" y="0"/>
              <a:ext cx="4000500" cy="3714900"/>
            </a:xfrm>
            <a:prstGeom prst="roundRect">
              <a:avLst>
                <a:gd name="adj" fmla="val 3076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9"/>
            <p:cNvSpPr/>
            <p:nvPr/>
          </p:nvSpPr>
          <p:spPr>
            <a:xfrm>
              <a:off x="0" y="0"/>
              <a:ext cx="40005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20000"/>
                  </a:moveTo>
                  <a:cubicBezTo>
                    <a:pt x="0" y="53700"/>
                    <a:pt x="1534" y="0"/>
                    <a:pt x="3429" y="0"/>
                  </a:cubicBezTo>
                  <a:lnTo>
                    <a:pt x="116571" y="0"/>
                  </a:lnTo>
                  <a:cubicBezTo>
                    <a:pt x="118466" y="0"/>
                    <a:pt x="120000" y="53700"/>
                    <a:pt x="120000" y="120000"/>
                  </a:cubicBezTo>
                  <a:lnTo>
                    <a:pt x="120000" y="80000"/>
                  </a:lnTo>
                  <a:lnTo>
                    <a:pt x="0" y="8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9"/>
            <p:cNvSpPr txBox="1"/>
            <p:nvPr/>
          </p:nvSpPr>
          <p:spPr>
            <a:xfrm>
              <a:off x="228600" y="114300"/>
              <a:ext cx="35433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388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Datastore</a:t>
              </a:r>
              <a:endParaRPr sz="1388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it" sz="97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Il DataStore viene utilizzato per salvare preferenze semplici, come modalità anonima, visibilità dei percorsi, avatar e tema. I dati sono esposti come Flow, quindi la UI riceve automaticamente gli aggiornamenti.</a:t>
              </a:r>
              <a:endParaRPr sz="879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407" name="Google Shape;407;p29"/>
          <p:cNvGrpSpPr/>
          <p:nvPr/>
        </p:nvGrpSpPr>
        <p:grpSpPr>
          <a:xfrm>
            <a:off x="381000" y="775763"/>
            <a:ext cx="4000500" cy="4211714"/>
            <a:chOff x="381000" y="861000"/>
            <a:chExt cx="4000500" cy="4211714"/>
          </a:xfrm>
        </p:grpSpPr>
        <p:grpSp>
          <p:nvGrpSpPr>
            <p:cNvPr id="408" name="Google Shape;408;p29"/>
            <p:cNvGrpSpPr/>
            <p:nvPr/>
          </p:nvGrpSpPr>
          <p:grpSpPr>
            <a:xfrm>
              <a:off x="381000" y="861000"/>
              <a:ext cx="4000500" cy="4211714"/>
              <a:chOff x="0" y="0"/>
              <a:chExt cx="4000500" cy="4211714"/>
            </a:xfrm>
          </p:grpSpPr>
          <p:sp>
            <p:nvSpPr>
              <p:cNvPr id="409" name="Google Shape;409;p29"/>
              <p:cNvSpPr/>
              <p:nvPr/>
            </p:nvSpPr>
            <p:spPr>
              <a:xfrm>
                <a:off x="0" y="14"/>
                <a:ext cx="4000500" cy="4211700"/>
              </a:xfrm>
              <a:prstGeom prst="roundRect">
                <a:avLst>
                  <a:gd name="adj" fmla="val 3076"/>
                </a:avLst>
              </a:prstGeom>
              <a:solidFill>
                <a:srgbClr val="FFFFFF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29"/>
              <p:cNvSpPr/>
              <p:nvPr/>
            </p:nvSpPr>
            <p:spPr>
              <a:xfrm>
                <a:off x="0" y="0"/>
                <a:ext cx="40005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0" y="120000"/>
                    </a:moveTo>
                    <a:cubicBezTo>
                      <a:pt x="0" y="53700"/>
                      <a:pt x="1534" y="0"/>
                      <a:pt x="3429" y="0"/>
                    </a:cubicBezTo>
                    <a:lnTo>
                      <a:pt x="116571" y="0"/>
                    </a:lnTo>
                    <a:cubicBezTo>
                      <a:pt x="118466" y="0"/>
                      <a:pt x="120000" y="53700"/>
                      <a:pt x="120000" y="120000"/>
                    </a:cubicBezTo>
                    <a:lnTo>
                      <a:pt x="120000" y="80000"/>
                    </a:lnTo>
                    <a:lnTo>
                      <a:pt x="0" y="80000"/>
                    </a:lnTo>
                    <a:close/>
                  </a:path>
                </a:pathLst>
              </a:cu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29"/>
              <p:cNvSpPr txBox="1"/>
              <p:nvPr/>
            </p:nvSpPr>
            <p:spPr>
              <a:xfrm>
                <a:off x="228600" y="114300"/>
                <a:ext cx="3543300" cy="123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388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Room</a:t>
                </a:r>
                <a:endParaRPr sz="1388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97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La classe rappresenta una tabella Room contenente i voti sui POI. La foreign key collega ogni voto al relativo POI e onDelete = CASCADE elimina automaticamente i voti quando il POI viene cancellato. L’indice univoco su poiId e voterUserId garantisce che ogni utente abbia un solo voto per ciascun POI.</a:t>
                </a:r>
                <a:endParaRPr sz="97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450"/>
                  </a:spcAft>
                  <a:buNone/>
                </a:pPr>
                <a:endParaRPr sz="97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pic>
          <p:nvPicPr>
            <p:cNvPr id="412" name="Google Shape;412;p29"/>
            <p:cNvPicPr preferRelativeResize="0"/>
            <p:nvPr/>
          </p:nvPicPr>
          <p:blipFill rotWithShape="1">
            <a:blip r:embed="rId4">
              <a:alphaModFix/>
            </a:blip>
            <a:srcRect t="8717" b="9"/>
            <a:stretch/>
          </p:blipFill>
          <p:spPr>
            <a:xfrm>
              <a:off x="1227425" y="2147114"/>
              <a:ext cx="2307651" cy="275085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413" name="Google Shape;413;p29"/>
          <p:cNvPicPr preferRelativeResize="0"/>
          <p:nvPr/>
        </p:nvPicPr>
        <p:blipFill rotWithShape="1">
          <a:blip r:embed="rId5">
            <a:alphaModFix/>
          </a:blip>
          <a:srcRect t="14479"/>
          <a:stretch/>
        </p:blipFill>
        <p:spPr>
          <a:xfrm>
            <a:off x="5108250" y="2473100"/>
            <a:ext cx="3325301" cy="195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8" name="Google Shape;418;p30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419" name="Google Shape;419;p30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/>
            <p:cNvSpPr txBox="1"/>
            <p:nvPr/>
          </p:nvSpPr>
          <p:spPr>
            <a:xfrm>
              <a:off x="381000" y="285750"/>
              <a:ext cx="66675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24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FirebaseAuthRepository</a:t>
              </a:r>
              <a:endParaRPr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421" name="Google Shape;421;p30"/>
            <p:cNvGrpSpPr/>
            <p:nvPr/>
          </p:nvGrpSpPr>
          <p:grpSpPr>
            <a:xfrm>
              <a:off x="7639050" y="247650"/>
              <a:ext cx="1276350" cy="304800"/>
              <a:chOff x="19050" y="19050"/>
              <a:chExt cx="1276350" cy="304800"/>
            </a:xfrm>
          </p:grpSpPr>
          <p:sp>
            <p:nvSpPr>
              <p:cNvPr id="422" name="Google Shape;422;p30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30"/>
              <p:cNvSpPr/>
              <p:nvPr/>
            </p:nvSpPr>
            <p:spPr>
              <a:xfrm>
                <a:off x="85725" y="76200"/>
                <a:ext cx="133500" cy="1716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cubicBezTo>
                      <a:pt x="25714" y="0"/>
                      <a:pt x="0" y="20000"/>
                      <a:pt x="0" y="46667"/>
                    </a:cubicBezTo>
                    <a:cubicBezTo>
                      <a:pt x="0" y="80000"/>
                      <a:pt x="60000" y="120000"/>
                      <a:pt x="60000" y="120000"/>
                    </a:cubicBezTo>
                    <a:cubicBezTo>
                      <a:pt x="60000" y="120000"/>
                      <a:pt x="120000" y="80000"/>
                      <a:pt x="120000" y="46667"/>
                    </a:cubicBezTo>
                    <a:cubicBezTo>
                      <a:pt x="120000" y="20000"/>
                      <a:pt x="94286" y="0"/>
                      <a:pt x="600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30"/>
              <p:cNvSpPr/>
              <p:nvPr/>
            </p:nvSpPr>
            <p:spPr>
              <a:xfrm>
                <a:off x="123825" y="104775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30"/>
              <p:cNvSpPr txBox="1"/>
              <p:nvPr/>
            </p:nvSpPr>
            <p:spPr>
              <a:xfrm>
                <a:off x="342900" y="19050"/>
                <a:ext cx="952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6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Xplore</a:t>
                </a:r>
                <a:endParaRPr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426" name="Google Shape;426;p30"/>
            <p:cNvSpPr/>
            <p:nvPr/>
          </p:nvSpPr>
          <p:spPr>
            <a:xfrm>
              <a:off x="381000" y="857250"/>
              <a:ext cx="8382000" cy="19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7" name="Google Shape;427;p30"/>
          <p:cNvSpPr txBox="1"/>
          <p:nvPr/>
        </p:nvSpPr>
        <p:spPr>
          <a:xfrm>
            <a:off x="381000" y="1095375"/>
            <a:ext cx="8382000" cy="21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FirebaseAuthRepository</a:t>
            </a:r>
            <a:r>
              <a:rPr lang="it" sz="13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gestisce l'identità dell'utente nascondendo i dettagli dell'SDK Firebase alla UI.</a:t>
            </a:r>
            <a:endParaRPr sz="13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Autenticazione Flessibile: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Supporta la registrazione e il login tramite e-mail/password e Google Sign-In.</a:t>
            </a:r>
            <a:endParaRPr sz="12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317500" algn="l" rtl="0">
              <a:spcBef>
                <a:spcPts val="900"/>
              </a:spcBef>
              <a:spcAft>
                <a:spcPts val="0"/>
              </a:spcAft>
              <a:buSzPts val="1400"/>
              <a:buChar char="●"/>
            </a:pP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Integrazione Coroutine: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Converte le operazioni asincrone di Firebase in funzioni suspend per le coroutine.</a:t>
            </a:r>
            <a:endParaRPr sz="12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317500" algn="l" rtl="0">
              <a:spcBef>
                <a:spcPts val="900"/>
              </a:spcBef>
              <a:spcAft>
                <a:spcPts val="900"/>
              </a:spcAft>
              <a:buSzPts val="1400"/>
              <a:buChar char="●"/>
            </a:pP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Gestione Errori: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Traduce gli errori del provider in errori del dominio applicativo.</a:t>
            </a:r>
            <a:endParaRPr sz="12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28" name="Google Shape;428;p30"/>
          <p:cNvGrpSpPr/>
          <p:nvPr/>
        </p:nvGrpSpPr>
        <p:grpSpPr>
          <a:xfrm>
            <a:off x="381000" y="3429000"/>
            <a:ext cx="8382000" cy="1238400"/>
            <a:chOff x="0" y="0"/>
            <a:chExt cx="8382000" cy="1238400"/>
          </a:xfrm>
        </p:grpSpPr>
        <p:sp>
          <p:nvSpPr>
            <p:cNvPr id="429" name="Google Shape;429;p30"/>
            <p:cNvSpPr/>
            <p:nvPr/>
          </p:nvSpPr>
          <p:spPr>
            <a:xfrm>
              <a:off x="0" y="0"/>
              <a:ext cx="8382000" cy="12384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/>
            <p:cNvSpPr/>
            <p:nvPr/>
          </p:nvSpPr>
          <p:spPr>
            <a:xfrm>
              <a:off x="0" y="0"/>
              <a:ext cx="76200" cy="12384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/>
            <p:cNvSpPr txBox="1"/>
            <p:nvPr/>
          </p:nvSpPr>
          <p:spPr>
            <a:xfrm>
              <a:off x="285750" y="190500"/>
              <a:ext cx="78105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1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Gestione dello Stato Reattivo</a:t>
              </a:r>
              <a:endParaRPr sz="11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it" sz="1300" b="0" i="1">
                  <a:solidFill>
                    <a:srgbClr val="0F4C81"/>
                  </a:solidFill>
                  <a:latin typeface="Inter"/>
                  <a:ea typeface="Inter"/>
                  <a:cs typeface="Inter"/>
                  <a:sym typeface="Inter"/>
                </a:rPr>
                <a:t>"Lo stato della sessione viene esposto reattivamente tramite callbackFlow, permettendo alla MainActivity di modificare automaticamente la navigazione."</a:t>
              </a:r>
              <a:endParaRPr sz="1300" b="0" i="1">
                <a:solidFill>
                  <a:srgbClr val="0F4C8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432" name="Google Shape;432;p30"/>
          <p:cNvPicPr preferRelativeResize="0"/>
          <p:nvPr/>
        </p:nvPicPr>
        <p:blipFill rotWithShape="1">
          <a:blip r:embed="rId3">
            <a:alphaModFix/>
          </a:blip>
          <a:srcRect l="7732" t="37576" r="85880" b="59537"/>
          <a:stretch/>
        </p:blipFill>
        <p:spPr>
          <a:xfrm>
            <a:off x="7623850" y="217625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8" name="Google Shape;438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4763" y="3624263"/>
            <a:ext cx="981000" cy="9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31"/>
          <p:cNvSpPr txBox="1"/>
          <p:nvPr/>
        </p:nvSpPr>
        <p:spPr>
          <a:xfrm>
            <a:off x="381000" y="238125"/>
            <a:ext cx="7048500" cy="5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GhostFactory &amp; Simulazione Social</a:t>
            </a:r>
            <a:endParaRPr sz="24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440" name="Google Shape;440;p31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441" name="Google Shape;441;p31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1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445" name="Google Shape;445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857250"/>
            <a:ext cx="8382000" cy="19200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31"/>
          <p:cNvSpPr txBox="1"/>
          <p:nvPr/>
        </p:nvSpPr>
        <p:spPr>
          <a:xfrm>
            <a:off x="381000" y="1095375"/>
            <a:ext cx="3905400" cy="37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b="0">
                <a:solidFill>
                  <a:srgbClr val="2563E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Simulazione Locale dei Dati</a:t>
            </a:r>
            <a:endParaRPr sz="1500" b="0">
              <a:solidFill>
                <a:srgbClr val="2563E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it" sz="11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La versione finale non possiede un backend remoto per la sincronizzazione dei viaggi tra utenti reali. La componente social è simulata localmente tramite una </a:t>
            </a:r>
            <a:r>
              <a:rPr lang="it" sz="11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GhostFactory</a:t>
            </a:r>
            <a:r>
              <a:rPr lang="it" sz="11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1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500" b="0">
                <a:solidFill>
                  <a:srgbClr val="2563E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Proprietà dei Ghost</a:t>
            </a:r>
            <a:endParaRPr sz="1500" b="0">
              <a:solidFill>
                <a:srgbClr val="2563E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it" sz="11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 ghost possiedono identificativi, percorsi, visite ai POI e voti generati internamente.</a:t>
            </a:r>
            <a:endParaRPr sz="11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500" b="0">
                <a:solidFill>
                  <a:srgbClr val="2563EB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Vantaggi dell'Architettura</a:t>
            </a:r>
            <a:endParaRPr sz="1500" b="0">
              <a:solidFill>
                <a:srgbClr val="2563EB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it" sz="11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Questa scelta architetturale permette di dimostrare le funzionalità di interazione, filtraggio e visualizzazione sulla mappa, riducendo la complessità e mantenendo la logica pronta per una futura integrazione server.</a:t>
            </a:r>
            <a:endParaRPr sz="11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10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10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it" sz="1100" i="1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factory è statica, con percorsi effettuati generati da intelligenza artificiale</a:t>
            </a:r>
            <a:endParaRPr sz="110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47" name="Google Shape;447;p31" title="images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72000" y="1343450"/>
            <a:ext cx="4186675" cy="296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31"/>
          <p:cNvPicPr preferRelativeResize="0"/>
          <p:nvPr/>
        </p:nvPicPr>
        <p:blipFill rotWithShape="1">
          <a:blip r:embed="rId6">
            <a:alphaModFix/>
          </a:blip>
          <a:srcRect l="7732" t="37576" r="85880" b="59537"/>
          <a:stretch/>
        </p:blipFill>
        <p:spPr>
          <a:xfrm>
            <a:off x="7624775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43763" y="385763"/>
            <a:ext cx="1362000" cy="981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4" name="Google Shape;454;p32"/>
          <p:cNvGrpSpPr/>
          <p:nvPr/>
        </p:nvGrpSpPr>
        <p:grpSpPr>
          <a:xfrm>
            <a:off x="381000" y="247650"/>
            <a:ext cx="8534400" cy="581175"/>
            <a:chOff x="381000" y="247650"/>
            <a:chExt cx="8534400" cy="581175"/>
          </a:xfrm>
        </p:grpSpPr>
        <p:sp>
          <p:nvSpPr>
            <p:cNvPr id="455" name="Google Shape;455;p32"/>
            <p:cNvSpPr txBox="1"/>
            <p:nvPr/>
          </p:nvSpPr>
          <p:spPr>
            <a:xfrm>
              <a:off x="381000" y="266700"/>
              <a:ext cx="66675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24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MapViewModel &amp; Gestione dello Stato</a:t>
              </a:r>
              <a:endParaRPr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456" name="Google Shape;456;p32"/>
            <p:cNvGrpSpPr/>
            <p:nvPr/>
          </p:nvGrpSpPr>
          <p:grpSpPr>
            <a:xfrm>
              <a:off x="7639050" y="247650"/>
              <a:ext cx="1276350" cy="304800"/>
              <a:chOff x="19050" y="19050"/>
              <a:chExt cx="1276350" cy="304800"/>
            </a:xfrm>
          </p:grpSpPr>
          <p:sp>
            <p:nvSpPr>
              <p:cNvPr id="457" name="Google Shape;457;p32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32"/>
              <p:cNvSpPr/>
              <p:nvPr/>
            </p:nvSpPr>
            <p:spPr>
              <a:xfrm>
                <a:off x="85725" y="76200"/>
                <a:ext cx="133500" cy="1716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cubicBezTo>
                      <a:pt x="25714" y="0"/>
                      <a:pt x="0" y="20000"/>
                      <a:pt x="0" y="46667"/>
                    </a:cubicBezTo>
                    <a:cubicBezTo>
                      <a:pt x="0" y="80000"/>
                      <a:pt x="60000" y="120000"/>
                      <a:pt x="60000" y="120000"/>
                    </a:cubicBezTo>
                    <a:cubicBezTo>
                      <a:pt x="60000" y="120000"/>
                      <a:pt x="120000" y="80000"/>
                      <a:pt x="120000" y="46667"/>
                    </a:cubicBezTo>
                    <a:cubicBezTo>
                      <a:pt x="120000" y="20000"/>
                      <a:pt x="94286" y="0"/>
                      <a:pt x="600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32"/>
              <p:cNvSpPr/>
              <p:nvPr/>
            </p:nvSpPr>
            <p:spPr>
              <a:xfrm>
                <a:off x="123825" y="104775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32"/>
              <p:cNvSpPr txBox="1"/>
              <p:nvPr/>
            </p:nvSpPr>
            <p:spPr>
              <a:xfrm>
                <a:off x="342900" y="19050"/>
                <a:ext cx="952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6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Xplore</a:t>
                </a:r>
                <a:endParaRPr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pic>
          <p:nvPicPr>
            <p:cNvPr id="461" name="Google Shape;461;p32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81000" y="809625"/>
              <a:ext cx="8382000" cy="192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62" name="Google Shape;462;p32"/>
          <p:cNvSpPr txBox="1"/>
          <p:nvPr/>
        </p:nvSpPr>
        <p:spPr>
          <a:xfrm>
            <a:off x="381000" y="971550"/>
            <a:ext cx="83820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900"/>
              </a:spcAft>
              <a:buNone/>
            </a:pP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Il codice più significativo risiede nel </a:t>
            </a: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MapViewModel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, dove l'operatore </a:t>
            </a:r>
            <a:r>
              <a:rPr lang="it" sz="12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combine</a:t>
            </a:r>
            <a:r>
              <a:rPr lang="it"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 di Kotlin unisce molteplici Flow.</a:t>
            </a:r>
            <a:endParaRPr sz="1200" b="0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63" name="Google Shape;463;p32"/>
          <p:cNvGrpSpPr/>
          <p:nvPr/>
        </p:nvGrpSpPr>
        <p:grpSpPr>
          <a:xfrm>
            <a:off x="381000" y="1428750"/>
            <a:ext cx="8382000" cy="3333900"/>
            <a:chOff x="0" y="0"/>
            <a:chExt cx="8382000" cy="3333900"/>
          </a:xfrm>
        </p:grpSpPr>
        <p:sp>
          <p:nvSpPr>
            <p:cNvPr id="464" name="Google Shape;464;p32"/>
            <p:cNvSpPr/>
            <p:nvPr/>
          </p:nvSpPr>
          <p:spPr>
            <a:xfrm>
              <a:off x="0" y="0"/>
              <a:ext cx="8382000" cy="3333900"/>
            </a:xfrm>
            <a:prstGeom prst="roundRect">
              <a:avLst>
                <a:gd name="adj" fmla="val 3428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2"/>
            <p:cNvSpPr/>
            <p:nvPr/>
          </p:nvSpPr>
          <p:spPr>
            <a:xfrm>
              <a:off x="0" y="0"/>
              <a:ext cx="8382000" cy="573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2"/>
            <p:cNvSpPr txBox="1"/>
            <p:nvPr/>
          </p:nvSpPr>
          <p:spPr>
            <a:xfrm>
              <a:off x="266700" y="209550"/>
              <a:ext cx="78486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85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ARCHITETTURA REATTIVA • PATTERN COMBINE</a:t>
              </a:r>
              <a:endParaRPr sz="85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900"/>
                </a:spcAft>
                <a:buNone/>
              </a:pPr>
              <a:r>
                <a:rPr lang="it" sz="935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Il ViewModel sincronizza la posizione corrente, i percorsi tracciati, i punti di interesse dal database, i ghost simulati e i passi del sensore.</a:t>
              </a:r>
              <a:endParaRPr sz="935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467" name="Google Shape;467;p32"/>
            <p:cNvGrpSpPr/>
            <p:nvPr/>
          </p:nvGrpSpPr>
          <p:grpSpPr>
            <a:xfrm>
              <a:off x="266700" y="762000"/>
              <a:ext cx="2381400" cy="1619400"/>
              <a:chOff x="0" y="0"/>
              <a:chExt cx="2381400" cy="1619400"/>
            </a:xfrm>
          </p:grpSpPr>
          <p:sp>
            <p:nvSpPr>
              <p:cNvPr id="468" name="Google Shape;468;p32"/>
              <p:cNvSpPr/>
              <p:nvPr/>
            </p:nvSpPr>
            <p:spPr>
              <a:xfrm>
                <a:off x="0" y="0"/>
                <a:ext cx="2381400" cy="1619400"/>
              </a:xfrm>
              <a:prstGeom prst="roundRect">
                <a:avLst>
                  <a:gd name="adj" fmla="val 4705"/>
                </a:avLst>
              </a:prstGeom>
              <a:solidFill>
                <a:srgbClr val="F8FAFC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Google Shape;469;p32"/>
              <p:cNvSpPr/>
              <p:nvPr/>
            </p:nvSpPr>
            <p:spPr>
              <a:xfrm>
                <a:off x="0" y="0"/>
                <a:ext cx="2381400" cy="38100"/>
              </a:xfrm>
              <a:prstGeom prst="roundRect">
                <a:avLst>
                  <a:gd name="adj" fmla="val 50000"/>
                </a:avLst>
              </a:prstGeom>
              <a:solidFill>
                <a:srgbClr val="64748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Google Shape;470;p32"/>
              <p:cNvSpPr txBox="1"/>
              <p:nvPr/>
            </p:nvSpPr>
            <p:spPr>
              <a:xfrm>
                <a:off x="152400" y="133350"/>
                <a:ext cx="2076600" cy="13527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0" i="0" u="none" strike="noStrike">
                    <a:solidFill>
                      <a:srgbClr val="64748B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5 Flow in Ingresso</a:t>
                </a:r>
                <a:endParaRPr sz="1000" b="0" i="0" u="none" strike="noStrike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457200" lvl="0" indent="-292100" algn="l" rtl="0">
                  <a:spcBef>
                    <a:spcPts val="600"/>
                  </a:spcBef>
                  <a:spcAft>
                    <a:spcPts val="0"/>
                  </a:spcAft>
                  <a:buClr>
                    <a:srgbClr val="64748B"/>
                  </a:buClr>
                  <a:buSzPts val="1000"/>
                  <a:buFont typeface="Inter"/>
                  <a:buChar char="●"/>
                </a:pPr>
                <a:r>
                  <a:rPr lang="it" sz="1000" b="0" i="0" u="none" strike="noStrike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Posizione corrente</a:t>
                </a:r>
                <a:endParaRPr sz="1000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2100" algn="l" rtl="0">
                  <a:spcBef>
                    <a:spcPts val="300"/>
                  </a:spcBef>
                  <a:spcAft>
                    <a:spcPts val="0"/>
                  </a:spcAft>
                  <a:buClr>
                    <a:srgbClr val="64748B"/>
                  </a:buClr>
                  <a:buSzPts val="1000"/>
                  <a:buFont typeface="Inter"/>
                  <a:buChar char="●"/>
                </a:pPr>
                <a:r>
                  <a:rPr lang="it" sz="1000" b="0" i="0" u="none" strike="noStrike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Percorsi tracciati</a:t>
                </a:r>
                <a:endParaRPr sz="1000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2100" algn="l" rtl="0">
                  <a:spcBef>
                    <a:spcPts val="300"/>
                  </a:spcBef>
                  <a:spcAft>
                    <a:spcPts val="0"/>
                  </a:spcAft>
                  <a:buClr>
                    <a:srgbClr val="64748B"/>
                  </a:buClr>
                  <a:buSzPts val="1000"/>
                  <a:buFont typeface="Inter"/>
                  <a:buChar char="●"/>
                </a:pPr>
                <a:r>
                  <a:rPr lang="it" sz="1000" b="0" i="0" u="none" strike="noStrike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Punti di interesse (DB)</a:t>
                </a:r>
                <a:endParaRPr sz="1000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2100" algn="l" rtl="0">
                  <a:spcBef>
                    <a:spcPts val="300"/>
                  </a:spcBef>
                  <a:spcAft>
                    <a:spcPts val="0"/>
                  </a:spcAft>
                  <a:buClr>
                    <a:srgbClr val="64748B"/>
                  </a:buClr>
                  <a:buSzPts val="1000"/>
                  <a:buFont typeface="Inter"/>
                  <a:buChar char="●"/>
                </a:pPr>
                <a:r>
                  <a:rPr lang="it" sz="1000" b="0" i="0" u="none" strike="noStrike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Ghost simulati</a:t>
                </a:r>
                <a:endParaRPr sz="1000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292100" algn="l" rtl="0">
                  <a:spcBef>
                    <a:spcPts val="300"/>
                  </a:spcBef>
                  <a:spcAft>
                    <a:spcPts val="300"/>
                  </a:spcAft>
                  <a:buClr>
                    <a:srgbClr val="64748B"/>
                  </a:buClr>
                  <a:buSzPts val="1000"/>
                  <a:buFont typeface="Inter"/>
                  <a:buChar char="●"/>
                </a:pPr>
                <a:r>
                  <a:rPr lang="it" sz="1000" b="0" i="0" u="none" strike="noStrike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Passi del sensore</a:t>
                </a:r>
                <a:endParaRPr sz="1000" b="0" i="0" u="none" strike="noStrike">
                  <a:solidFill>
                    <a:srgbClr val="64748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471" name="Google Shape;471;p32"/>
            <p:cNvSpPr/>
            <p:nvPr/>
          </p:nvSpPr>
          <p:spPr>
            <a:xfrm>
              <a:off x="2781300" y="1514475"/>
              <a:ext cx="2667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120000" y="60000"/>
                  </a:lnTo>
                  <a:moveTo>
                    <a:pt x="94286" y="0"/>
                  </a:moveTo>
                  <a:lnTo>
                    <a:pt x="120000" y="60000"/>
                  </a:lnTo>
                  <a:lnTo>
                    <a:pt x="94286" y="120000"/>
                  </a:lnTo>
                </a:path>
              </a:pathLst>
            </a:custGeom>
            <a:solidFill>
              <a:srgbClr val="000000"/>
            </a:solidFill>
            <a:ln w="23825" cap="rnd" cmpd="sng">
              <a:solidFill>
                <a:srgbClr val="2563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2" name="Google Shape;472;p32"/>
            <p:cNvGrpSpPr/>
            <p:nvPr/>
          </p:nvGrpSpPr>
          <p:grpSpPr>
            <a:xfrm>
              <a:off x="3162300" y="762000"/>
              <a:ext cx="1905000" cy="1619400"/>
              <a:chOff x="0" y="0"/>
              <a:chExt cx="1905000" cy="1619400"/>
            </a:xfrm>
          </p:grpSpPr>
          <p:sp>
            <p:nvSpPr>
              <p:cNvPr id="473" name="Google Shape;473;p32"/>
              <p:cNvSpPr/>
              <p:nvPr/>
            </p:nvSpPr>
            <p:spPr>
              <a:xfrm>
                <a:off x="0" y="0"/>
                <a:ext cx="1905000" cy="1619400"/>
              </a:xfrm>
              <a:prstGeom prst="roundRect">
                <a:avLst>
                  <a:gd name="adj" fmla="val 4705"/>
                </a:avLst>
              </a:prstGeom>
              <a:solidFill>
                <a:srgbClr val="DBEAFE"/>
              </a:solidFill>
              <a:ln w="14300" cap="flat" cmpd="sng">
                <a:solidFill>
                  <a:srgbClr val="2563EB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32"/>
              <p:cNvSpPr txBox="1"/>
              <p:nvPr/>
            </p:nvSpPr>
            <p:spPr>
              <a:xfrm>
                <a:off x="152400" y="152400"/>
                <a:ext cx="1600200" cy="13146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1" i="0" u="none" strike="noStrike">
                    <a:solidFill>
                      <a:srgbClr val="2563EB"/>
                    </a:solidFill>
                    <a:latin typeface="Inter"/>
                    <a:ea typeface="Inter"/>
                    <a:cs typeface="Inter"/>
                    <a:sym typeface="Inter"/>
                  </a:rPr>
                  <a:t>KOTLIN FLOW</a:t>
                </a:r>
                <a:endParaRPr sz="1000" b="1" i="0" u="none" strike="noStrike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1600" b="1" i="0" u="none" strike="noStrike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combine</a:t>
                </a:r>
                <a:endParaRPr sz="1000" b="1" i="0" u="none" strike="noStrike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450"/>
                  </a:spcAft>
                  <a:buNone/>
                </a:pPr>
                <a:r>
                  <a:rPr lang="it" sz="950" b="0" i="0" u="none" strike="noStrike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Unificazione e sincronizzazione degli stream in tempo reale</a:t>
                </a:r>
                <a:endParaRPr sz="950" b="1" i="0" u="none" strike="noStrike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475" name="Google Shape;475;p32"/>
            <p:cNvSpPr/>
            <p:nvPr/>
          </p:nvSpPr>
          <p:spPr>
            <a:xfrm>
              <a:off x="5200650" y="1514475"/>
              <a:ext cx="2667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60000"/>
                  </a:moveTo>
                  <a:lnTo>
                    <a:pt x="120000" y="60000"/>
                  </a:lnTo>
                  <a:moveTo>
                    <a:pt x="94286" y="0"/>
                  </a:moveTo>
                  <a:lnTo>
                    <a:pt x="120000" y="60000"/>
                  </a:lnTo>
                  <a:lnTo>
                    <a:pt x="94286" y="120000"/>
                  </a:lnTo>
                </a:path>
              </a:pathLst>
            </a:custGeom>
            <a:solidFill>
              <a:srgbClr val="000000"/>
            </a:solidFill>
            <a:ln w="23825" cap="rnd" cmpd="sng">
              <a:solidFill>
                <a:srgbClr val="2563E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76" name="Google Shape;476;p32"/>
            <p:cNvGrpSpPr/>
            <p:nvPr/>
          </p:nvGrpSpPr>
          <p:grpSpPr>
            <a:xfrm>
              <a:off x="5581650" y="762000"/>
              <a:ext cx="2533800" cy="1619400"/>
              <a:chOff x="0" y="0"/>
              <a:chExt cx="2533800" cy="1619400"/>
            </a:xfrm>
          </p:grpSpPr>
          <p:sp>
            <p:nvSpPr>
              <p:cNvPr id="477" name="Google Shape;477;p32"/>
              <p:cNvSpPr/>
              <p:nvPr/>
            </p:nvSpPr>
            <p:spPr>
              <a:xfrm>
                <a:off x="0" y="0"/>
                <a:ext cx="2533800" cy="1619400"/>
              </a:xfrm>
              <a:prstGeom prst="roundRect">
                <a:avLst>
                  <a:gd name="adj" fmla="val 4705"/>
                </a:avLst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32"/>
              <p:cNvSpPr txBox="1"/>
              <p:nvPr/>
            </p:nvSpPr>
            <p:spPr>
              <a:xfrm>
                <a:off x="171450" y="152400"/>
                <a:ext cx="2190900" cy="13146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0" i="0" u="none" strike="noStrike">
                    <a:solidFill>
                      <a:srgbClr val="DBEAFE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STATO UNICO EMESSO</a:t>
                </a:r>
                <a:endParaRPr sz="1000" b="0" i="0" u="none" strike="noStrike">
                  <a:solidFill>
                    <a:srgbClr val="DBEAFE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0" lvl="0" indent="0" algn="ctr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it" sz="1400" b="1" i="0" u="none" strike="noStrike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MapUiState</a:t>
                </a:r>
                <a:endParaRPr sz="1000" b="0" i="0" u="none" strike="noStrike">
                  <a:solidFill>
                    <a:srgbClr val="DBEAFE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marL="0" lvl="0" indent="0" algn="ctr" rtl="0">
                  <a:spcBef>
                    <a:spcPts val="600"/>
                  </a:spcBef>
                  <a:spcAft>
                    <a:spcPts val="450"/>
                  </a:spcAft>
                  <a:buNone/>
                </a:pPr>
                <a:r>
                  <a:rPr lang="it" sz="950" b="0" i="0" u="none" strike="noStrike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Stato </a:t>
                </a:r>
                <a:r>
                  <a:rPr lang="it" sz="950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non mutabile </a:t>
                </a:r>
                <a:r>
                  <a:rPr lang="it" sz="950" b="0" i="0" u="none" strike="noStrike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contenente tutti i dati della mappa pronti per la UI.</a:t>
                </a:r>
                <a:endParaRPr sz="950" b="0" i="0" u="none" strike="noStrike">
                  <a:solidFill>
                    <a:srgbClr val="DBEAFE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479" name="Google Shape;479;p32"/>
            <p:cNvSpPr/>
            <p:nvPr/>
          </p:nvSpPr>
          <p:spPr>
            <a:xfrm>
              <a:off x="266700" y="2505075"/>
              <a:ext cx="7848600" cy="762000"/>
            </a:xfrm>
            <a:prstGeom prst="roundRect">
              <a:avLst>
                <a:gd name="adj" fmla="val 10000"/>
              </a:avLst>
            </a:prstGeom>
            <a:solidFill>
              <a:srgbClr val="F8FAFC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2"/>
            <p:cNvSpPr txBox="1"/>
            <p:nvPr/>
          </p:nvSpPr>
          <p:spPr>
            <a:xfrm>
              <a:off x="419100" y="2600325"/>
              <a:ext cx="75438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100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Questa combinazione genera un singolo </a:t>
              </a:r>
              <a:r>
                <a:rPr lang="it" sz="1100" b="1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MapUiState </a:t>
              </a:r>
              <a:r>
                <a:rPr lang="it" sz="1100" b="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non mutable</a:t>
              </a:r>
              <a:r>
                <a:rPr lang="it" sz="1100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. La schermata osserva esclusivamente questo stato, garantendo un </a:t>
              </a:r>
              <a:r>
                <a:rPr lang="it" sz="1100" b="1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aggiornamento fluido e reattivo</a:t>
              </a:r>
              <a:r>
                <a:rPr lang="it" sz="1100" b="0" i="0" u="none" strike="noStrike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della mappa a ogni variazione dei dati sottostanti.</a:t>
              </a:r>
              <a:endParaRPr sz="1100" b="0" i="0" u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481" name="Google Shape;481;p32"/>
          <p:cNvPicPr preferRelativeResize="0"/>
          <p:nvPr/>
        </p:nvPicPr>
        <p:blipFill rotWithShape="1">
          <a:blip r:embed="rId5">
            <a:alphaModFix/>
          </a:blip>
          <a:srcRect l="7732" t="37576" r="85880" b="59537"/>
          <a:stretch/>
        </p:blipFill>
        <p:spPr>
          <a:xfrm>
            <a:off x="7623850" y="247650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33"/>
          <p:cNvSpPr txBox="1"/>
          <p:nvPr/>
        </p:nvSpPr>
        <p:spPr>
          <a:xfrm>
            <a:off x="381000" y="238125"/>
            <a:ext cx="68580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MapViewModel &amp; Gestione dello Stato</a:t>
            </a:r>
            <a:endParaRPr sz="24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487" name="Google Shape;487;p33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488" name="Google Shape;488;p33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3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33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33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492" name="Google Shape;492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838200"/>
            <a:ext cx="8382000" cy="192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3"/>
          <p:cNvSpPr txBox="1"/>
          <p:nvPr/>
        </p:nvSpPr>
        <p:spPr>
          <a:xfrm>
            <a:off x="241100" y="905975"/>
            <a:ext cx="4291500" cy="3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00">
              <a:solidFill>
                <a:srgbClr val="0F4C8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457200" lvl="0" indent="-317500" algn="l" rtl="0">
              <a:spcBef>
                <a:spcPts val="225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Inter"/>
              <a:buChar char="●"/>
            </a:pPr>
            <a:r>
              <a:rPr lang="it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it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MapViewModel </a:t>
            </a:r>
            <a:r>
              <a:rPr lang="it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raccoglie dati provenienti da diversi repository: posizione dell’utente, percorso, POI, ghost e viaggi. </a:t>
            </a:r>
            <a:endParaRPr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Inter"/>
              <a:buChar char="●"/>
            </a:pPr>
            <a:r>
              <a:rPr lang="it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La funzione </a:t>
            </a:r>
            <a:r>
              <a:rPr lang="it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combine </a:t>
            </a:r>
            <a:r>
              <a:rPr lang="it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aspetta i valori più recenti di tutti i flussi e costruisce un unico oggetto MapUiState.</a:t>
            </a:r>
            <a:endParaRPr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Inter"/>
              <a:buChar char="●"/>
            </a:pPr>
            <a:r>
              <a:rPr lang="it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La UI osserva soltanto questo stato e si aggiorna automaticamente quando cambia uno dei dati. In questo modo la logica applicativa rimane nel ViewModel e non direttamente nella schermata.</a:t>
            </a:r>
            <a:endParaRPr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94" name="Google Shape;494;p33"/>
          <p:cNvPicPr preferRelativeResize="0"/>
          <p:nvPr/>
        </p:nvPicPr>
        <p:blipFill rotWithShape="1">
          <a:blip r:embed="rId4">
            <a:alphaModFix/>
          </a:blip>
          <a:srcRect l="7732" t="37576" r="85880" b="59537"/>
          <a:stretch/>
        </p:blipFill>
        <p:spPr>
          <a:xfrm>
            <a:off x="7601825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95" name="Google Shape;495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4525" y="905975"/>
            <a:ext cx="3767274" cy="405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0" name="Google Shape;500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43763" y="3624263"/>
            <a:ext cx="1362000" cy="981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1" name="Google Shape;501;p34"/>
          <p:cNvGrpSpPr/>
          <p:nvPr/>
        </p:nvGrpSpPr>
        <p:grpSpPr>
          <a:xfrm>
            <a:off x="381000" y="247650"/>
            <a:ext cx="8534400" cy="609750"/>
            <a:chOff x="381000" y="247650"/>
            <a:chExt cx="8534400" cy="609750"/>
          </a:xfrm>
        </p:grpSpPr>
        <p:sp>
          <p:nvSpPr>
            <p:cNvPr id="502" name="Google Shape;502;p34"/>
            <p:cNvSpPr txBox="1"/>
            <p:nvPr/>
          </p:nvSpPr>
          <p:spPr>
            <a:xfrm>
              <a:off x="381000" y="266700"/>
              <a:ext cx="66675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24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Strategia di Validazione e Testing</a:t>
              </a:r>
              <a:endParaRPr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grpSp>
          <p:nvGrpSpPr>
            <p:cNvPr id="503" name="Google Shape;503;p34"/>
            <p:cNvGrpSpPr/>
            <p:nvPr/>
          </p:nvGrpSpPr>
          <p:grpSpPr>
            <a:xfrm>
              <a:off x="7639050" y="247650"/>
              <a:ext cx="1276350" cy="304800"/>
              <a:chOff x="19050" y="19050"/>
              <a:chExt cx="1276350" cy="304800"/>
            </a:xfrm>
          </p:grpSpPr>
          <p:sp>
            <p:nvSpPr>
              <p:cNvPr id="504" name="Google Shape;504;p34"/>
              <p:cNvSpPr/>
              <p:nvPr/>
            </p:nvSpPr>
            <p:spPr>
              <a:xfrm>
                <a:off x="19050" y="19050"/>
                <a:ext cx="266700" cy="266700"/>
              </a:xfrm>
              <a:prstGeom prst="ellipse">
                <a:avLst/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34"/>
              <p:cNvSpPr/>
              <p:nvPr/>
            </p:nvSpPr>
            <p:spPr>
              <a:xfrm>
                <a:off x="85725" y="76200"/>
                <a:ext cx="133500" cy="1716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extrusionOk="0">
                    <a:moveTo>
                      <a:pt x="60000" y="0"/>
                    </a:moveTo>
                    <a:cubicBezTo>
                      <a:pt x="25714" y="0"/>
                      <a:pt x="0" y="20000"/>
                      <a:pt x="0" y="46667"/>
                    </a:cubicBezTo>
                    <a:cubicBezTo>
                      <a:pt x="0" y="80000"/>
                      <a:pt x="60000" y="120000"/>
                      <a:pt x="60000" y="120000"/>
                    </a:cubicBezTo>
                    <a:cubicBezTo>
                      <a:pt x="60000" y="120000"/>
                      <a:pt x="120000" y="80000"/>
                      <a:pt x="120000" y="46667"/>
                    </a:cubicBezTo>
                    <a:cubicBezTo>
                      <a:pt x="120000" y="20000"/>
                      <a:pt x="94286" y="0"/>
                      <a:pt x="600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34"/>
              <p:cNvSpPr/>
              <p:nvPr/>
            </p:nvSpPr>
            <p:spPr>
              <a:xfrm>
                <a:off x="123825" y="104775"/>
                <a:ext cx="57300" cy="573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34"/>
              <p:cNvSpPr txBox="1"/>
              <p:nvPr/>
            </p:nvSpPr>
            <p:spPr>
              <a:xfrm>
                <a:off x="342900" y="19050"/>
                <a:ext cx="952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6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Xplore</a:t>
                </a:r>
                <a:endParaRPr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pic>
          <p:nvPicPr>
            <p:cNvPr id="508" name="Google Shape;508;p34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81000" y="838200"/>
              <a:ext cx="8382000" cy="192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09" name="Google Shape;509;p34"/>
          <p:cNvGrpSpPr/>
          <p:nvPr/>
        </p:nvGrpSpPr>
        <p:grpSpPr>
          <a:xfrm>
            <a:off x="389150" y="1190625"/>
            <a:ext cx="8372550" cy="3476700"/>
            <a:chOff x="381000" y="1190625"/>
            <a:chExt cx="8372550" cy="3476700"/>
          </a:xfrm>
        </p:grpSpPr>
        <p:grpSp>
          <p:nvGrpSpPr>
            <p:cNvPr id="510" name="Google Shape;510;p34"/>
            <p:cNvGrpSpPr/>
            <p:nvPr/>
          </p:nvGrpSpPr>
          <p:grpSpPr>
            <a:xfrm>
              <a:off x="381000" y="1190625"/>
              <a:ext cx="2600400" cy="3476700"/>
              <a:chOff x="381000" y="1190625"/>
              <a:chExt cx="2600400" cy="3476700"/>
            </a:xfrm>
          </p:grpSpPr>
          <p:sp>
            <p:nvSpPr>
              <p:cNvPr id="511" name="Google Shape;511;p34"/>
              <p:cNvSpPr/>
              <p:nvPr/>
            </p:nvSpPr>
            <p:spPr>
              <a:xfrm>
                <a:off x="381000" y="1190625"/>
                <a:ext cx="2600400" cy="3476700"/>
              </a:xfrm>
              <a:prstGeom prst="roundRect">
                <a:avLst>
                  <a:gd name="adj" fmla="val 4395"/>
                </a:avLst>
              </a:prstGeom>
              <a:solidFill>
                <a:srgbClr val="FFFFFF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34"/>
              <p:cNvSpPr/>
              <p:nvPr/>
            </p:nvSpPr>
            <p:spPr>
              <a:xfrm>
                <a:off x="381000" y="1190625"/>
                <a:ext cx="2600400" cy="57300"/>
              </a:xfrm>
              <a:prstGeom prst="roundRect">
                <a:avLst>
                  <a:gd name="adj" fmla="val 50000"/>
                </a:avLst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4"/>
              <p:cNvSpPr txBox="1"/>
              <p:nvPr/>
            </p:nvSpPr>
            <p:spPr>
              <a:xfrm>
                <a:off x="533400" y="1381125"/>
                <a:ext cx="2295600" cy="314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1">
                    <a:solidFill>
                      <a:srgbClr val="2563EB"/>
                    </a:solidFill>
                    <a:latin typeface="Inter"/>
                    <a:ea typeface="Inter"/>
                    <a:cs typeface="Inter"/>
                    <a:sym typeface="Inter"/>
                  </a:rPr>
                  <a:t>LOGICA DI DOMINIO</a:t>
                </a:r>
                <a:endParaRPr sz="10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5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JUnit &amp; Mockito</a:t>
                </a:r>
                <a:endParaRPr sz="15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marL="0" lvl="0" indent="0" algn="l" rtl="0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Isolamento completo della business logic mediante test unitari dedicati: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317500" algn="l" rtl="0">
                  <a:spcBef>
                    <a:spcPts val="900"/>
                  </a:spcBef>
                  <a:spcAft>
                    <a:spcPts val="0"/>
                  </a:spcAft>
                  <a:buClr>
                    <a:srgbClr val="2563EB"/>
                  </a:buClr>
                  <a:buSzPts val="1400"/>
                  <a:buChar char="●"/>
                </a:pPr>
                <a:r>
                  <a:rPr lang="it" sz="10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Calcolo distanza:</a:t>
                </a:r>
                <a:r>
                  <a:rPr lang="it" sz="10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algoritmo verificato per evitare il doppio conteggio tra GPS e pedometro.</a:t>
                </a:r>
                <a:endParaRPr sz="10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317500" algn="l" rtl="0">
                  <a:spcBef>
                    <a:spcPts val="600"/>
                  </a:spcBef>
                  <a:spcAft>
                    <a:spcPts val="600"/>
                  </a:spcAft>
                  <a:buClr>
                    <a:srgbClr val="2563EB"/>
                  </a:buClr>
                  <a:buSzPts val="1400"/>
                  <a:buChar char="●"/>
                </a:pPr>
                <a:r>
                  <a:rPr lang="it" sz="10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Segmentazione:</a:t>
                </a:r>
                <a:r>
                  <a:rPr lang="it" sz="10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corretta gestione del percorso in caso di interruzione del segnale.</a:t>
                </a:r>
                <a:endParaRPr sz="10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514" name="Google Shape;514;p34"/>
            <p:cNvGrpSpPr/>
            <p:nvPr/>
          </p:nvGrpSpPr>
          <p:grpSpPr>
            <a:xfrm>
              <a:off x="3267075" y="1190625"/>
              <a:ext cx="2600400" cy="3476700"/>
              <a:chOff x="3267075" y="1190625"/>
              <a:chExt cx="2600400" cy="3476700"/>
            </a:xfrm>
          </p:grpSpPr>
          <p:sp>
            <p:nvSpPr>
              <p:cNvPr id="515" name="Google Shape;515;p34"/>
              <p:cNvSpPr/>
              <p:nvPr/>
            </p:nvSpPr>
            <p:spPr>
              <a:xfrm>
                <a:off x="3267075" y="1190625"/>
                <a:ext cx="2600400" cy="3476700"/>
              </a:xfrm>
              <a:prstGeom prst="roundRect">
                <a:avLst>
                  <a:gd name="adj" fmla="val 4395"/>
                </a:avLst>
              </a:prstGeom>
              <a:solidFill>
                <a:srgbClr val="FFFFFF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34"/>
              <p:cNvSpPr/>
              <p:nvPr/>
            </p:nvSpPr>
            <p:spPr>
              <a:xfrm>
                <a:off x="3267075" y="1190625"/>
                <a:ext cx="2600400" cy="573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34"/>
              <p:cNvSpPr txBox="1"/>
              <p:nvPr/>
            </p:nvSpPr>
            <p:spPr>
              <a:xfrm>
                <a:off x="3419475" y="1381125"/>
                <a:ext cx="2295600" cy="314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1">
                    <a:solidFill>
                      <a:srgbClr val="2563EB"/>
                    </a:solidFill>
                    <a:latin typeface="Inter"/>
                    <a:ea typeface="Inter"/>
                    <a:cs typeface="Inter"/>
                    <a:sym typeface="Inter"/>
                  </a:rPr>
                  <a:t>FLUSSI ASINCRONI</a:t>
                </a:r>
                <a:endParaRPr sz="10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500" b="1">
                    <a:solidFill>
                      <a:srgbClr val="2563EB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Coroutine Testing</a:t>
                </a:r>
                <a:endParaRPr sz="1500" b="1">
                  <a:solidFill>
                    <a:srgbClr val="2563EB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marL="0" lvl="0" indent="0" algn="l" rtl="0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Strumenti dedicati per la gestione e la sincronizzazione del codice asincrono: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317500" algn="l" rtl="0">
                  <a:spcBef>
                    <a:spcPts val="900"/>
                  </a:spcBef>
                  <a:spcAft>
                    <a:spcPts val="0"/>
                  </a:spcAft>
                  <a:buClr>
                    <a:srgbClr val="2563EB"/>
                  </a:buClr>
                  <a:buSzPts val="1400"/>
                  <a:buChar char="●"/>
                </a:pPr>
                <a:r>
                  <a:rPr lang="it" sz="10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Esecuzione controllata:</a:t>
                </a:r>
                <a:r>
                  <a:rPr lang="it" sz="10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test deterministici sulle coroutine dello stato di tracciamento.</a:t>
                </a:r>
                <a:endParaRPr sz="10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317500" algn="l" rtl="0">
                  <a:spcBef>
                    <a:spcPts val="600"/>
                  </a:spcBef>
                  <a:spcAft>
                    <a:spcPts val="600"/>
                  </a:spcAft>
                  <a:buClr>
                    <a:srgbClr val="2563EB"/>
                  </a:buClr>
                  <a:buSzPts val="1400"/>
                  <a:buChar char="●"/>
                </a:pPr>
                <a:r>
                  <a:rPr lang="it" sz="10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Gestione thread:</a:t>
                </a:r>
                <a:r>
                  <a:rPr lang="it" sz="10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isolamento delle operazioni I/O dai Dispatcher di background.</a:t>
                </a:r>
                <a:endParaRPr sz="10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518" name="Google Shape;518;p34"/>
            <p:cNvGrpSpPr/>
            <p:nvPr/>
          </p:nvGrpSpPr>
          <p:grpSpPr>
            <a:xfrm>
              <a:off x="6153150" y="1190625"/>
              <a:ext cx="2600400" cy="3476700"/>
              <a:chOff x="6153150" y="1190625"/>
              <a:chExt cx="2600400" cy="3476700"/>
            </a:xfrm>
          </p:grpSpPr>
          <p:sp>
            <p:nvSpPr>
              <p:cNvPr id="519" name="Google Shape;519;p34"/>
              <p:cNvSpPr/>
              <p:nvPr/>
            </p:nvSpPr>
            <p:spPr>
              <a:xfrm>
                <a:off x="6153150" y="1190625"/>
                <a:ext cx="2600400" cy="3476700"/>
              </a:xfrm>
              <a:prstGeom prst="roundRect">
                <a:avLst>
                  <a:gd name="adj" fmla="val 4395"/>
                </a:avLst>
              </a:prstGeom>
              <a:solidFill>
                <a:srgbClr val="FFFFFF"/>
              </a:solidFill>
              <a:ln w="14300" cap="flat" cmpd="sng">
                <a:solidFill>
                  <a:srgbClr val="E2E8F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34"/>
              <p:cNvSpPr/>
              <p:nvPr/>
            </p:nvSpPr>
            <p:spPr>
              <a:xfrm>
                <a:off x="6153150" y="1190625"/>
                <a:ext cx="2600400" cy="57300"/>
              </a:xfrm>
              <a:prstGeom prst="roundRect">
                <a:avLst>
                  <a:gd name="adj" fmla="val 50000"/>
                </a:avLst>
              </a:prstGeom>
              <a:solidFill>
                <a:srgbClr val="0F4C81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34"/>
              <p:cNvSpPr txBox="1"/>
              <p:nvPr/>
            </p:nvSpPr>
            <p:spPr>
              <a:xfrm>
                <a:off x="6305550" y="1381125"/>
                <a:ext cx="2295600" cy="314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sz="1000" b="1">
                    <a:solidFill>
                      <a:srgbClr val="2563EB"/>
                    </a:solidFill>
                    <a:latin typeface="Inter"/>
                    <a:ea typeface="Inter"/>
                    <a:cs typeface="Inter"/>
                    <a:sym typeface="Inter"/>
                  </a:rPr>
                  <a:t>PERSISTENZA LOCAL</a:t>
                </a:r>
                <a:endParaRPr sz="10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it" sz="1500" b="1">
                    <a:solidFill>
                      <a:srgbClr val="0F4C81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In-Memory Room DB</a:t>
                </a:r>
                <a:endParaRPr sz="15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  <a:p>
                <a:pPr marL="0" lvl="0" indent="0" algn="l" rtl="0">
                  <a:spcBef>
                    <a:spcPts val="900"/>
                  </a:spcBef>
                  <a:spcAft>
                    <a:spcPts val="0"/>
                  </a:spcAft>
                  <a:buNone/>
                </a:pPr>
                <a:r>
                  <a:rPr lang="it" sz="11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Test strumentali eseguiti in memoria temporanea RAM:</a:t>
                </a:r>
                <a:endParaRPr sz="11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317500" algn="l" rtl="0">
                  <a:spcBef>
                    <a:spcPts val="900"/>
                  </a:spcBef>
                  <a:spcAft>
                    <a:spcPts val="0"/>
                  </a:spcAft>
                  <a:buClr>
                    <a:srgbClr val="2563EB"/>
                  </a:buClr>
                  <a:buSzPts val="1400"/>
                  <a:buChar char="●"/>
                </a:pPr>
                <a:r>
                  <a:rPr lang="it" sz="10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Validazione DAO:</a:t>
                </a:r>
                <a:r>
                  <a:rPr lang="it" sz="10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verifica diretta di query, inserimenti e transazioni del database.</a:t>
                </a:r>
                <a:endParaRPr sz="10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457200" lvl="0" indent="-317500" algn="l" rtl="0">
                  <a:spcBef>
                    <a:spcPts val="600"/>
                  </a:spcBef>
                  <a:spcAft>
                    <a:spcPts val="600"/>
                  </a:spcAft>
                  <a:buClr>
                    <a:srgbClr val="2563EB"/>
                  </a:buClr>
                  <a:buSzPts val="1400"/>
                  <a:buChar char="●"/>
                </a:pPr>
                <a:r>
                  <a:rPr lang="it" sz="1000" b="1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Sicurezza dati:</a:t>
                </a:r>
                <a:r>
                  <a:rPr lang="it" sz="1000" b="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 esecuzione rapida senza alterare mai i dati persistenti reali.</a:t>
                </a:r>
                <a:endParaRPr sz="10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pic>
        <p:nvPicPr>
          <p:cNvPr id="522" name="Google Shape;522;p34"/>
          <p:cNvPicPr preferRelativeResize="0"/>
          <p:nvPr/>
        </p:nvPicPr>
        <p:blipFill rotWithShape="1">
          <a:blip r:embed="rId5">
            <a:alphaModFix/>
          </a:blip>
          <a:srcRect l="7732" t="37576" r="85880" b="59537"/>
          <a:stretch/>
        </p:blipFill>
        <p:spPr>
          <a:xfrm>
            <a:off x="7623850" y="247650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35"/>
          <p:cNvSpPr txBox="1"/>
          <p:nvPr/>
        </p:nvSpPr>
        <p:spPr>
          <a:xfrm>
            <a:off x="381000" y="238125"/>
            <a:ext cx="68580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Persistenza Locale: Room e DataStore</a:t>
            </a:r>
            <a:endParaRPr sz="22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528" name="Google Shape;528;p35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529" name="Google Shape;529;p35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5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5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5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533" name="Google Shape;533;p35"/>
          <p:cNvPicPr preferRelativeResize="0"/>
          <p:nvPr/>
        </p:nvPicPr>
        <p:blipFill rotWithShape="1">
          <a:blip r:embed="rId3">
            <a:alphaModFix/>
          </a:blip>
          <a:srcRect l="7732" t="37576" r="85880" b="59537"/>
          <a:stretch/>
        </p:blipFill>
        <p:spPr>
          <a:xfrm>
            <a:off x="7601825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34" name="Google Shape;534;p35"/>
          <p:cNvGrpSpPr/>
          <p:nvPr/>
        </p:nvGrpSpPr>
        <p:grpSpPr>
          <a:xfrm>
            <a:off x="4770650" y="775775"/>
            <a:ext cx="4000500" cy="4211582"/>
            <a:chOff x="0" y="0"/>
            <a:chExt cx="4000500" cy="3714900"/>
          </a:xfrm>
        </p:grpSpPr>
        <p:sp>
          <p:nvSpPr>
            <p:cNvPr id="535" name="Google Shape;535;p35"/>
            <p:cNvSpPr/>
            <p:nvPr/>
          </p:nvSpPr>
          <p:spPr>
            <a:xfrm>
              <a:off x="0" y="0"/>
              <a:ext cx="4000500" cy="3714900"/>
            </a:xfrm>
            <a:prstGeom prst="roundRect">
              <a:avLst>
                <a:gd name="adj" fmla="val 3076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35"/>
            <p:cNvSpPr/>
            <p:nvPr/>
          </p:nvSpPr>
          <p:spPr>
            <a:xfrm>
              <a:off x="0" y="0"/>
              <a:ext cx="40005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20000"/>
                  </a:moveTo>
                  <a:cubicBezTo>
                    <a:pt x="0" y="53700"/>
                    <a:pt x="1534" y="0"/>
                    <a:pt x="3429" y="0"/>
                  </a:cubicBezTo>
                  <a:lnTo>
                    <a:pt x="116571" y="0"/>
                  </a:lnTo>
                  <a:cubicBezTo>
                    <a:pt x="118466" y="0"/>
                    <a:pt x="120000" y="53700"/>
                    <a:pt x="120000" y="120000"/>
                  </a:cubicBezTo>
                  <a:lnTo>
                    <a:pt x="120000" y="80000"/>
                  </a:lnTo>
                  <a:lnTo>
                    <a:pt x="0" y="80000"/>
                  </a:lnTo>
                  <a:close/>
                </a:path>
              </a:pathLst>
            </a:cu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35"/>
            <p:cNvSpPr txBox="1"/>
            <p:nvPr/>
          </p:nvSpPr>
          <p:spPr>
            <a:xfrm>
              <a:off x="228600" y="114300"/>
              <a:ext cx="35433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388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Datastore</a:t>
              </a:r>
              <a:endParaRPr sz="1388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it" sz="97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Il database Room viene creato in memoria e chiuso al termine del test. In questo modo è possibile testare DAO, query, vincoli e relazioni senza modificare il database reale dell’app.</a:t>
              </a:r>
              <a:endParaRPr sz="879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538" name="Google Shape;538;p35"/>
          <p:cNvGrpSpPr/>
          <p:nvPr/>
        </p:nvGrpSpPr>
        <p:grpSpPr>
          <a:xfrm>
            <a:off x="381000" y="775763"/>
            <a:ext cx="4000500" cy="4211714"/>
            <a:chOff x="0" y="0"/>
            <a:chExt cx="4000500" cy="4211714"/>
          </a:xfrm>
        </p:grpSpPr>
        <p:sp>
          <p:nvSpPr>
            <p:cNvPr id="539" name="Google Shape;539;p35"/>
            <p:cNvSpPr/>
            <p:nvPr/>
          </p:nvSpPr>
          <p:spPr>
            <a:xfrm>
              <a:off x="0" y="14"/>
              <a:ext cx="4000500" cy="4211700"/>
            </a:xfrm>
            <a:prstGeom prst="roundRect">
              <a:avLst>
                <a:gd name="adj" fmla="val 3076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5"/>
            <p:cNvSpPr/>
            <p:nvPr/>
          </p:nvSpPr>
          <p:spPr>
            <a:xfrm>
              <a:off x="0" y="0"/>
              <a:ext cx="40005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20000"/>
                  </a:moveTo>
                  <a:cubicBezTo>
                    <a:pt x="0" y="53700"/>
                    <a:pt x="1534" y="0"/>
                    <a:pt x="3429" y="0"/>
                  </a:cubicBezTo>
                  <a:lnTo>
                    <a:pt x="116571" y="0"/>
                  </a:lnTo>
                  <a:cubicBezTo>
                    <a:pt x="118466" y="0"/>
                    <a:pt x="120000" y="53700"/>
                    <a:pt x="120000" y="120000"/>
                  </a:cubicBezTo>
                  <a:lnTo>
                    <a:pt x="120000" y="80000"/>
                  </a:lnTo>
                  <a:lnTo>
                    <a:pt x="0" y="80000"/>
                  </a:lnTo>
                  <a:close/>
                </a:path>
              </a:pathLst>
            </a:cu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5"/>
            <p:cNvSpPr txBox="1"/>
            <p:nvPr/>
          </p:nvSpPr>
          <p:spPr>
            <a:xfrm>
              <a:off x="228600" y="114300"/>
              <a:ext cx="35433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388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Room</a:t>
              </a:r>
              <a:endParaRPr sz="1388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it" sz="97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Il test verifica che il metodo startTravelFromMap del ViewModel inoltri correttamente l’azione al TravelRepository.</a:t>
              </a:r>
              <a:endParaRPr sz="97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0274" algn="l" rtl="0">
                <a:spcBef>
                  <a:spcPts val="600"/>
                </a:spcBef>
                <a:spcAft>
                  <a:spcPts val="0"/>
                </a:spcAft>
                <a:buClr>
                  <a:srgbClr val="1E293B"/>
                </a:buClr>
                <a:buSzPts val="971"/>
                <a:buFont typeface="Inter"/>
                <a:buChar char="●"/>
              </a:pPr>
              <a:r>
                <a:rPr lang="it" sz="97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mock crea un repository simulato;</a:t>
              </a:r>
              <a:endParaRPr sz="97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0274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71"/>
                <a:buFont typeface="Inter"/>
                <a:buChar char="●"/>
              </a:pPr>
              <a:r>
                <a:rPr lang="it" sz="97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runTest permette di testare codice basato su coroutine;</a:t>
              </a:r>
              <a:endParaRPr sz="97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0274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71"/>
                <a:buFont typeface="Inter"/>
                <a:buChar char="●"/>
              </a:pPr>
              <a:r>
                <a:rPr lang="it" sz="97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advanceUntilIdle attende il completamento delle coroutine;</a:t>
              </a:r>
              <a:endParaRPr sz="97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0274" algn="l" rtl="0">
                <a:spcBef>
                  <a:spcPts val="0"/>
                </a:spcBef>
                <a:spcAft>
                  <a:spcPts val="0"/>
                </a:spcAft>
                <a:buClr>
                  <a:srgbClr val="1E293B"/>
                </a:buClr>
                <a:buSzPts val="971"/>
                <a:buFont typeface="Inter"/>
                <a:buChar char="●"/>
              </a:pPr>
              <a:r>
                <a:rPr lang="it" sz="971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verify controlla che il metodo sia stato chiamato.</a:t>
              </a:r>
              <a:endParaRPr sz="97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endParaRPr sz="97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450"/>
                </a:spcAft>
                <a:buNone/>
              </a:pPr>
              <a:endParaRPr sz="97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542" name="Google Shape;542;p35"/>
          <p:cNvPicPr preferRelativeResize="0"/>
          <p:nvPr/>
        </p:nvPicPr>
        <p:blipFill rotWithShape="1">
          <a:blip r:embed="rId4">
            <a:alphaModFix/>
          </a:blip>
          <a:srcRect t="9107"/>
          <a:stretch/>
        </p:blipFill>
        <p:spPr>
          <a:xfrm>
            <a:off x="1254385" y="2571750"/>
            <a:ext cx="2253730" cy="2377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Google Shape;543;p35"/>
          <p:cNvPicPr preferRelativeResize="0"/>
          <p:nvPr/>
        </p:nvPicPr>
        <p:blipFill rotWithShape="1">
          <a:blip r:embed="rId5">
            <a:alphaModFix/>
          </a:blip>
          <a:srcRect t="5865"/>
          <a:stretch/>
        </p:blipFill>
        <p:spPr>
          <a:xfrm>
            <a:off x="5421075" y="1776625"/>
            <a:ext cx="2699649" cy="3333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8" name="Google Shape;548;p36"/>
          <p:cNvGrpSpPr/>
          <p:nvPr/>
        </p:nvGrpSpPr>
        <p:grpSpPr>
          <a:xfrm>
            <a:off x="385763" y="385763"/>
            <a:ext cx="8220000" cy="4219500"/>
            <a:chOff x="385763" y="385763"/>
            <a:chExt cx="8220000" cy="4219500"/>
          </a:xfrm>
        </p:grpSpPr>
        <p:pic>
          <p:nvPicPr>
            <p:cNvPr id="549" name="Google Shape;549;p3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243763" y="385763"/>
              <a:ext cx="1362000" cy="981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0" name="Google Shape;550;p3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85763" y="4005263"/>
              <a:ext cx="1743000" cy="600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1" name="Google Shape;551;p36"/>
          <p:cNvSpPr txBox="1"/>
          <p:nvPr/>
        </p:nvSpPr>
        <p:spPr>
          <a:xfrm>
            <a:off x="381000" y="266700"/>
            <a:ext cx="66675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2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Limiti Attuali e Sviluppi Futuri</a:t>
            </a:r>
            <a:endParaRPr sz="22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552" name="Google Shape;552;p36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553" name="Google Shape;553;p36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6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36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36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557" name="Google Shape;557;p3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838200"/>
            <a:ext cx="8382000" cy="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58" name="Google Shape;558;p36"/>
          <p:cNvGrpSpPr/>
          <p:nvPr/>
        </p:nvGrpSpPr>
        <p:grpSpPr>
          <a:xfrm>
            <a:off x="381000" y="1047750"/>
            <a:ext cx="4048200" cy="3714900"/>
            <a:chOff x="0" y="0"/>
            <a:chExt cx="4048200" cy="3714900"/>
          </a:xfrm>
        </p:grpSpPr>
        <p:sp>
          <p:nvSpPr>
            <p:cNvPr id="559" name="Google Shape;559;p36"/>
            <p:cNvSpPr/>
            <p:nvPr/>
          </p:nvSpPr>
          <p:spPr>
            <a:xfrm>
              <a:off x="0" y="0"/>
              <a:ext cx="4048200" cy="3714900"/>
            </a:xfrm>
            <a:prstGeom prst="roundRect">
              <a:avLst>
                <a:gd name="adj" fmla="val 3076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6"/>
            <p:cNvSpPr/>
            <p:nvPr/>
          </p:nvSpPr>
          <p:spPr>
            <a:xfrm>
              <a:off x="0" y="0"/>
              <a:ext cx="4048200" cy="5730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36"/>
            <p:cNvSpPr txBox="1"/>
            <p:nvPr/>
          </p:nvSpPr>
          <p:spPr>
            <a:xfrm>
              <a:off x="228600" y="190500"/>
              <a:ext cx="35910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900" b="1">
                  <a:solidFill>
                    <a:srgbClr val="D97706"/>
                  </a:solidFill>
                  <a:latin typeface="Inter"/>
                  <a:ea typeface="Inter"/>
                  <a:cs typeface="Inter"/>
                  <a:sym typeface="Inter"/>
                </a:rPr>
                <a:t>ARCHITETTURA LOCALE</a:t>
              </a:r>
              <a:endParaRPr sz="900" b="1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it" sz="1500" b="0">
                  <a:solidFill>
                    <a:srgbClr val="0F4C81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Limiti Attuali</a:t>
              </a:r>
              <a:endParaRPr sz="1500" b="0">
                <a:solidFill>
                  <a:srgbClr val="0F4C81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it" sz="105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L'applicazione presenta limiti deliberati coerenti con gli obiettivi del corso.</a:t>
              </a:r>
              <a:endParaRPr sz="105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it" sz="1100" b="0">
                  <a:solidFill>
                    <a:srgbClr val="1E293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Assenza di Sincronizzazione Remota</a:t>
              </a:r>
              <a:endParaRPr sz="1100" b="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it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Manca una sincronizzazione remota dei dati applicativi.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lang="it" sz="1100" b="0">
                  <a:solidFill>
                    <a:srgbClr val="1E293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Assenza di Moderazione POI</a:t>
              </a:r>
              <a:endParaRPr sz="1100" b="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it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Manca una moderazione server-side dei POI.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lang="it" sz="1100" b="0">
                  <a:solidFill>
                    <a:srgbClr val="1E293B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Dati Community Locali</a:t>
              </a:r>
              <a:endParaRPr sz="1100" b="0">
                <a:solidFill>
                  <a:srgbClr val="1E293B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it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I dati della community sono completamente predisposti in locale.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62" name="Google Shape;562;p36"/>
          <p:cNvGrpSpPr/>
          <p:nvPr/>
        </p:nvGrpSpPr>
        <p:grpSpPr>
          <a:xfrm>
            <a:off x="4714875" y="1047750"/>
            <a:ext cx="4048200" cy="3714900"/>
            <a:chOff x="0" y="0"/>
            <a:chExt cx="4048200" cy="3714900"/>
          </a:xfrm>
        </p:grpSpPr>
        <p:sp>
          <p:nvSpPr>
            <p:cNvPr id="563" name="Google Shape;563;p36"/>
            <p:cNvSpPr/>
            <p:nvPr/>
          </p:nvSpPr>
          <p:spPr>
            <a:xfrm>
              <a:off x="0" y="0"/>
              <a:ext cx="4048200" cy="3714900"/>
            </a:xfrm>
            <a:prstGeom prst="roundRect">
              <a:avLst>
                <a:gd name="adj" fmla="val 3076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36"/>
            <p:cNvSpPr/>
            <p:nvPr/>
          </p:nvSpPr>
          <p:spPr>
            <a:xfrm>
              <a:off x="0" y="0"/>
              <a:ext cx="4048200" cy="57300"/>
            </a:xfrm>
            <a:prstGeom prst="roundRect">
              <a:avLst>
                <a:gd name="adj" fmla="val 50000"/>
              </a:avLst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36"/>
            <p:cNvSpPr txBox="1"/>
            <p:nvPr/>
          </p:nvSpPr>
          <p:spPr>
            <a:xfrm>
              <a:off x="228600" y="190500"/>
              <a:ext cx="35910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9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BACKEND CLOUD &amp; REAL-TIME</a:t>
              </a:r>
              <a:endParaRPr sz="9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it" sz="1500" b="0">
                  <a:solidFill>
                    <a:srgbClr val="2563E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Sviluppi Futuri</a:t>
              </a:r>
              <a:endParaRPr sz="1500" b="0">
                <a:solidFill>
                  <a:srgbClr val="2563EB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it" sz="105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Evoluzioni architetturali e funzionali previste per le prossime release.</a:t>
              </a:r>
              <a:endParaRPr sz="105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it" sz="1100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Backend Remoto</a:t>
              </a:r>
              <a:endParaRPr sz="1100" b="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it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Integrazione di un backend remoto per sostituire i ghost con utenti reali.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lang="it" sz="1100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Chat Privata e di Gruppo</a:t>
              </a:r>
              <a:endParaRPr sz="1100" b="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it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Aggiunta di un sistema di messaggistica privata o di gruppo.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lang="it" sz="1100" b="0">
                  <a:solidFill>
                    <a:srgbClr val="0F4C8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Live Sharing Percorsi</a:t>
              </a:r>
              <a:endParaRPr sz="1100" b="0">
                <a:solidFill>
                  <a:srgbClr val="0F4C8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it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Condivisione in tempo reale dei percorsi tra utenti.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566" name="Google Shape;566;p36"/>
          <p:cNvPicPr preferRelativeResize="0"/>
          <p:nvPr/>
        </p:nvPicPr>
        <p:blipFill rotWithShape="1">
          <a:blip r:embed="rId6">
            <a:alphaModFix/>
          </a:blip>
          <a:srcRect l="7732" t="37576" r="85880" b="59537"/>
          <a:stretch/>
        </p:blipFill>
        <p:spPr>
          <a:xfrm>
            <a:off x="7639050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37"/>
          <p:cNvSpPr txBox="1"/>
          <p:nvPr/>
        </p:nvSpPr>
        <p:spPr>
          <a:xfrm>
            <a:off x="381000" y="285750"/>
            <a:ext cx="66675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22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Architettura e Stack Tecnologico</a:t>
            </a:r>
            <a:endParaRPr sz="222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573" name="Google Shape;573;p37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574" name="Google Shape;574;p37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37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14" y="0"/>
                    <a:pt x="0" y="20000"/>
                    <a:pt x="0" y="46667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7"/>
                  </a:cubicBezTo>
                  <a:cubicBezTo>
                    <a:pt x="120000" y="20000"/>
                    <a:pt x="94286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37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37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578" name="Google Shape;578;p37"/>
          <p:cNvSpPr/>
          <p:nvPr/>
        </p:nvSpPr>
        <p:spPr>
          <a:xfrm>
            <a:off x="381000" y="857250"/>
            <a:ext cx="8382000" cy="1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9" name="Google Shape;579;p37"/>
          <p:cNvGrpSpPr/>
          <p:nvPr/>
        </p:nvGrpSpPr>
        <p:grpSpPr>
          <a:xfrm>
            <a:off x="381000" y="1143000"/>
            <a:ext cx="8382000" cy="3619500"/>
            <a:chOff x="0" y="0"/>
            <a:chExt cx="8382000" cy="3619500"/>
          </a:xfrm>
        </p:grpSpPr>
        <p:sp>
          <p:nvSpPr>
            <p:cNvPr id="580" name="Google Shape;580;p37"/>
            <p:cNvSpPr/>
            <p:nvPr/>
          </p:nvSpPr>
          <p:spPr>
            <a:xfrm>
              <a:off x="0" y="0"/>
              <a:ext cx="5238900" cy="3619500"/>
            </a:xfrm>
            <a:prstGeom prst="roundRect">
              <a:avLst>
                <a:gd name="adj" fmla="val 4210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37"/>
            <p:cNvSpPr txBox="1"/>
            <p:nvPr/>
          </p:nvSpPr>
          <p:spPr>
            <a:xfrm>
              <a:off x="285750" y="285750"/>
              <a:ext cx="4667400" cy="304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0">
                  <a:solidFill>
                    <a:srgbClr val="2563E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Architettura MVVM e Reattività</a:t>
              </a:r>
              <a:endParaRPr sz="1600" b="0">
                <a:solidFill>
                  <a:srgbClr val="2563EB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it" sz="12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Xplore dimostra una padronanza completa dello stack moderno Android. L'app separa rigorosamente l'interfaccia dalla logica di business applicando l'architettura MVVM.</a:t>
              </a:r>
              <a:endParaRPr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900"/>
                </a:spcAft>
                <a:buNone/>
              </a:pPr>
              <a:r>
                <a:rPr lang="it" sz="120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L'integrazione di Jetpack Compose, Room e Kotlin Flow crea un ecosistema totalmente reattivo, garantendo un'interfaccia utente sempre aggiornata e una gestione fluida dello stato.</a:t>
              </a:r>
              <a:endParaRPr sz="120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82" name="Google Shape;582;p37"/>
            <p:cNvSpPr/>
            <p:nvPr/>
          </p:nvSpPr>
          <p:spPr>
            <a:xfrm>
              <a:off x="5524500" y="0"/>
              <a:ext cx="2857500" cy="1714500"/>
            </a:xfrm>
            <a:prstGeom prst="roundRect">
              <a:avLst>
                <a:gd name="adj" fmla="val 8888"/>
              </a:avLst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37"/>
            <p:cNvSpPr txBox="1"/>
            <p:nvPr/>
          </p:nvSpPr>
          <p:spPr>
            <a:xfrm>
              <a:off x="5762625" y="238125"/>
              <a:ext cx="23814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000" b="1">
                  <a:solidFill>
                    <a:srgbClr val="DBEAFE"/>
                  </a:solidFill>
                  <a:latin typeface="Inter"/>
                  <a:ea typeface="Inter"/>
                  <a:cs typeface="Inter"/>
                  <a:sym typeface="Inter"/>
                </a:rPr>
                <a:t>TRACCIAMENTO ASINCRONO</a:t>
              </a:r>
              <a:endParaRPr sz="1000" b="1">
                <a:solidFill>
                  <a:srgbClr val="DBEAFE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900"/>
                </a:spcAft>
                <a:buNone/>
              </a:pPr>
              <a:r>
                <a:rPr lang="it" sz="1200" b="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Garantito da Foreground Service e Coroutine, ottimizzando l'uso dei sensori hardware.</a:t>
              </a:r>
              <a:endParaRPr sz="1200" b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84" name="Google Shape;584;p37"/>
            <p:cNvSpPr/>
            <p:nvPr/>
          </p:nvSpPr>
          <p:spPr>
            <a:xfrm>
              <a:off x="5524500" y="1905000"/>
              <a:ext cx="2857500" cy="1714500"/>
            </a:xfrm>
            <a:prstGeom prst="roundRect">
              <a:avLst>
                <a:gd name="adj" fmla="val 8888"/>
              </a:avLst>
            </a:prstGeom>
            <a:solidFill>
              <a:srgbClr val="F1F5F9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37"/>
            <p:cNvSpPr txBox="1"/>
            <p:nvPr/>
          </p:nvSpPr>
          <p:spPr>
            <a:xfrm>
              <a:off x="5762625" y="2143125"/>
              <a:ext cx="23814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0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RISULTATO</a:t>
              </a:r>
              <a:endParaRPr sz="10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900"/>
                </a:spcAft>
                <a:buNone/>
              </a:pPr>
              <a:r>
                <a:rPr lang="it" sz="1200" b="0">
                  <a:solidFill>
                    <a:srgbClr val="1E293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Un'applicazione robusta, scalabile e pronta per future evoluzioni.</a:t>
              </a:r>
              <a:endParaRPr sz="1200" b="0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pic>
        <p:nvPicPr>
          <p:cNvPr id="586" name="Google Shape;586;p37"/>
          <p:cNvPicPr preferRelativeResize="0"/>
          <p:nvPr/>
        </p:nvPicPr>
        <p:blipFill rotWithShape="1">
          <a:blip r:embed="rId3">
            <a:alphaModFix/>
          </a:blip>
          <a:srcRect l="7732" t="37576" r="85880" b="59537"/>
          <a:stretch/>
        </p:blipFill>
        <p:spPr>
          <a:xfrm>
            <a:off x="7639050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1" name="Google Shape;591;p38"/>
          <p:cNvGrpSpPr/>
          <p:nvPr/>
        </p:nvGrpSpPr>
        <p:grpSpPr>
          <a:xfrm>
            <a:off x="7639050" y="247650"/>
            <a:ext cx="1276350" cy="304800"/>
            <a:chOff x="19050" y="19050"/>
            <a:chExt cx="1276350" cy="304800"/>
          </a:xfrm>
        </p:grpSpPr>
        <p:sp>
          <p:nvSpPr>
            <p:cNvPr id="592" name="Google Shape;592;p38"/>
            <p:cNvSpPr/>
            <p:nvPr/>
          </p:nvSpPr>
          <p:spPr>
            <a:xfrm>
              <a:off x="19050" y="19050"/>
              <a:ext cx="266700" cy="266700"/>
            </a:xfrm>
            <a:prstGeom prst="ellipse">
              <a:avLst/>
            </a:prstGeom>
            <a:solidFill>
              <a:srgbClr val="0F4C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8"/>
            <p:cNvSpPr/>
            <p:nvPr/>
          </p:nvSpPr>
          <p:spPr>
            <a:xfrm>
              <a:off x="85725" y="76200"/>
              <a:ext cx="133500" cy="1716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60000" y="0"/>
                  </a:moveTo>
                  <a:cubicBezTo>
                    <a:pt x="25708" y="0"/>
                    <a:pt x="0" y="20000"/>
                    <a:pt x="0" y="46661"/>
                  </a:cubicBezTo>
                  <a:cubicBezTo>
                    <a:pt x="0" y="80000"/>
                    <a:pt x="60000" y="120000"/>
                    <a:pt x="60000" y="120000"/>
                  </a:cubicBezTo>
                  <a:cubicBezTo>
                    <a:pt x="60000" y="120000"/>
                    <a:pt x="120000" y="80000"/>
                    <a:pt x="120000" y="46661"/>
                  </a:cubicBezTo>
                  <a:cubicBezTo>
                    <a:pt x="120000" y="20000"/>
                    <a:pt x="94292" y="0"/>
                    <a:pt x="600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8"/>
            <p:cNvSpPr/>
            <p:nvPr/>
          </p:nvSpPr>
          <p:spPr>
            <a:xfrm>
              <a:off x="123825" y="104775"/>
              <a:ext cx="57300" cy="57300"/>
            </a:xfrm>
            <a:prstGeom prst="ellipse">
              <a:avLst/>
            </a:prstGeom>
            <a:solidFill>
              <a:srgbClr val="2563E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38"/>
            <p:cNvSpPr txBox="1"/>
            <p:nvPr/>
          </p:nvSpPr>
          <p:spPr>
            <a:xfrm>
              <a:off x="342900" y="19050"/>
              <a:ext cx="9525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t" sz="1600" b="1">
                  <a:solidFill>
                    <a:srgbClr val="0F4C8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Xplore</a:t>
              </a:r>
              <a:endParaRPr sz="1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cxnSp>
        <p:nvCxnSpPr>
          <p:cNvPr id="596" name="Google Shape;596;p38"/>
          <p:cNvCxnSpPr/>
          <p:nvPr/>
        </p:nvCxnSpPr>
        <p:spPr>
          <a:xfrm>
            <a:off x="381000" y="809625"/>
            <a:ext cx="8382000" cy="0"/>
          </a:xfrm>
          <a:prstGeom prst="straightConnector1">
            <a:avLst/>
          </a:prstGeom>
          <a:solidFill>
            <a:srgbClr val="FFFFFF"/>
          </a:solidFill>
          <a:ln w="143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97" name="Google Shape;597;p38"/>
          <p:cNvSpPr txBox="1"/>
          <p:nvPr/>
        </p:nvSpPr>
        <p:spPr>
          <a:xfrm>
            <a:off x="381000" y="1912125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3600" b="1">
                <a:solidFill>
                  <a:srgbClr val="0F4C81"/>
                </a:solidFill>
                <a:latin typeface="Montserrat"/>
                <a:ea typeface="Montserrat"/>
                <a:cs typeface="Montserrat"/>
                <a:sym typeface="Montserrat"/>
              </a:rPr>
              <a:t>Grazie per l'Attenzione!</a:t>
            </a:r>
            <a:endParaRPr sz="3600" b="1">
              <a:solidFill>
                <a:srgbClr val="0F4C8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8" name="Google Shape;598;p38"/>
          <p:cNvSpPr txBox="1"/>
          <p:nvPr/>
        </p:nvSpPr>
        <p:spPr>
          <a:xfrm>
            <a:off x="381000" y="2483625"/>
            <a:ext cx="8382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4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it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ono</a:t>
            </a:r>
            <a:r>
              <a:rPr lang="it" sz="14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a disposizione per domande e approfondimenti sul progetto Xplore.</a:t>
            </a:r>
            <a:endParaRPr sz="1400" b="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99" name="Google Shape;599;p38"/>
          <p:cNvPicPr preferRelativeResize="0"/>
          <p:nvPr/>
        </p:nvPicPr>
        <p:blipFill rotWithShape="1">
          <a:blip r:embed="rId3">
            <a:alphaModFix/>
          </a:blip>
          <a:srcRect l="7732" t="37576" r="85880" b="59537"/>
          <a:stretch/>
        </p:blipFill>
        <p:spPr>
          <a:xfrm>
            <a:off x="7639050" y="245213"/>
            <a:ext cx="311575" cy="30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2615</Words>
  <Application>Microsoft Office PowerPoint</Application>
  <PresentationFormat>Presentazione su schermo (16:9)</PresentationFormat>
  <Paragraphs>329</Paragraphs>
  <Slides>28</Slides>
  <Notes>25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7" baseType="lpstr">
      <vt:lpstr>Montserrat ExtraBold</vt:lpstr>
      <vt:lpstr>Montserrat SemiBold</vt:lpstr>
      <vt:lpstr>Inter</vt:lpstr>
      <vt:lpstr>Inter SemiBold</vt:lpstr>
      <vt:lpstr>Montserrat</vt:lpstr>
      <vt:lpstr>Inter Medium</vt:lpstr>
      <vt:lpstr>Arial</vt:lpstr>
      <vt:lpstr>Consolas</vt:lpstr>
      <vt:lpstr>Simple Light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Raffaele Melluso</cp:lastModifiedBy>
  <cp:revision>1</cp:revision>
  <dcterms:modified xsi:type="dcterms:W3CDTF">2026-09-26T19:37:38Z</dcterms:modified>
</cp:coreProperties>
</file>