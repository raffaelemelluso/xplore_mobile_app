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Montserrat SemiBold"/>
      <p:regular r:id="rId26"/>
      <p:bold r:id="rId27"/>
      <p:italic r:id="rId28"/>
      <p:boldItalic r:id="rId29"/>
    </p:embeddedFont>
    <p:embeddedFont>
      <p:font typeface="Inter SemiBold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Montserrat"/>
      <p:bold r:id="rId38"/>
      <p:boldItalic r:id="rId39"/>
    </p:embeddedFont>
    <p:embeddedFont>
      <p:font typeface="Montserrat ExtraBold"/>
      <p:bold r:id="rId40"/>
      <p:boldItalic r:id="rId41"/>
    </p:embeddedFont>
    <p:embeddedFont>
      <p:font typeface="Inter Medium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ExtraBold-bold.fntdata"/><Relationship Id="rId20" Type="http://schemas.openxmlformats.org/officeDocument/2006/relationships/slide" Target="slides/slide15.xml"/><Relationship Id="rId42" Type="http://schemas.openxmlformats.org/officeDocument/2006/relationships/font" Target="fonts/InterMedium-regular.fntdata"/><Relationship Id="rId41" Type="http://schemas.openxmlformats.org/officeDocument/2006/relationships/font" Target="fonts/MontserratExtraBold-boldItalic.fntdata"/><Relationship Id="rId22" Type="http://schemas.openxmlformats.org/officeDocument/2006/relationships/slide" Target="slides/slide17.xml"/><Relationship Id="rId44" Type="http://schemas.openxmlformats.org/officeDocument/2006/relationships/font" Target="fonts/InterMedium-italic.fntdata"/><Relationship Id="rId21" Type="http://schemas.openxmlformats.org/officeDocument/2006/relationships/slide" Target="slides/slide16.xml"/><Relationship Id="rId43" Type="http://schemas.openxmlformats.org/officeDocument/2006/relationships/font" Target="fonts/InterMedium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Inter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SemiBold-italic.fntdata"/><Relationship Id="rId27" Type="http://schemas.openxmlformats.org/officeDocument/2006/relationships/font" Target="fonts/Montserra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SemiBold-bold.fntdata"/><Relationship Id="rId30" Type="http://schemas.openxmlformats.org/officeDocument/2006/relationships/font" Target="fonts/Inter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Inter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SemiBold-italic.fntdata"/><Relationship Id="rId13" Type="http://schemas.openxmlformats.org/officeDocument/2006/relationships/slide" Target="slides/slide8.xml"/><Relationship Id="rId35" Type="http://schemas.openxmlformats.org/officeDocument/2006/relationships/font" Target="fonts/Inter-bold.fntdata"/><Relationship Id="rId12" Type="http://schemas.openxmlformats.org/officeDocument/2006/relationships/slide" Target="slides/slide7.xml"/><Relationship Id="rId34" Type="http://schemas.openxmlformats.org/officeDocument/2006/relationships/font" Target="fonts/Inter-regular.fntdata"/><Relationship Id="rId15" Type="http://schemas.openxmlformats.org/officeDocument/2006/relationships/slide" Target="slides/slide10.xml"/><Relationship Id="rId37" Type="http://schemas.openxmlformats.org/officeDocument/2006/relationships/font" Target="fonts/Inter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-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fd603b8beff3a4b_2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fd603b8beff3a4b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fd603b8beff3a4b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fd603b8beff3a4b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fd603b8beff3a4b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fd603b8beff3a4b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52eefa58c3bc21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52eefa58c3bc21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2eefa58c3bc2146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52eefa58c3bc214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52eefa58c3bc214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52eefa58c3bc214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52eefa58c3bc214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52eefa58c3bc214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fd603b8beff3a4b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hfd603b8beff3a4b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fd603b8beff3a4b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hfd603b8beff3a4b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fd603b8beff3a4b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hfd603b8beff3a4b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fd603b8beff3a4b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hfd603b8beff3a4b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fd603b8beff3a4b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hfd603b8beff3a4b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fd603b8beff3a4b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hfd603b8beff3a4b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hfd603b8beff3a4b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hfd603b8beff3a4b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fd603b8beff3a4b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hfd603b8beff3a4b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fd603b8beff3a4b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hfd603b8beff3a4b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fd603b8beff3a4b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fd603b8beff3a4b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fd603b8beff3a4b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hfd603b8beff3a4b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fd603b8beff3a4b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hfd603b8beff3a4b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52eefa58c3bc2146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h52eefa58c3bc2146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fd603b8beff3a4b_13_0)">
  <p:cSld name="Generated (hfd603b8beff3a4b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28.png"/><Relationship Id="rId6" Type="http://schemas.openxmlformats.org/officeDocument/2006/relationships/image" Target="../media/image17.png"/><Relationship Id="rId7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6.jp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-762000"/>
            <a:ext cx="10096500" cy="4962600"/>
            <a:chOff x="0" y="-762000"/>
            <a:chExt cx="10096500" cy="49626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3619500" cy="3619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FF6FF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6667500" y="-762000"/>
              <a:ext cx="3429000" cy="3429000"/>
            </a:xfrm>
            <a:prstGeom prst="ellipse">
              <a:avLst/>
            </a:prstGeom>
            <a:solidFill>
              <a:srgbClr val="DBEAFE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62000" y="4191000"/>
              <a:ext cx="7620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" name="Google Shape;59;p14"/>
          <p:cNvGrpSpPr/>
          <p:nvPr/>
        </p:nvGrpSpPr>
        <p:grpSpPr>
          <a:xfrm>
            <a:off x="762000" y="1524000"/>
            <a:ext cx="7620000" cy="2286000"/>
            <a:chOff x="0" y="0"/>
            <a:chExt cx="7620000" cy="2286000"/>
          </a:xfrm>
        </p:grpSpPr>
        <p:sp>
          <p:nvSpPr>
            <p:cNvPr id="60" name="Google Shape;60;p14"/>
            <p:cNvSpPr/>
            <p:nvPr/>
          </p:nvSpPr>
          <p:spPr>
            <a:xfrm>
              <a:off x="0" y="0"/>
              <a:ext cx="7620000" cy="22860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0" y="0"/>
              <a:ext cx="76200" cy="2286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381000" y="285750"/>
              <a:ext cx="6858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3200">
                  <a:solidFill>
                    <a:srgbClr val="0F4C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Xplore </a:t>
              </a:r>
              <a:r>
                <a:rPr lang="it" sz="3200">
                  <a:solidFill>
                    <a:srgbClr val="0F4C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- </a:t>
              </a:r>
              <a:r>
                <a:rPr b="0" lang="it" sz="3200">
                  <a:solidFill>
                    <a:srgbClr val="0F4C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Technical Overview</a:t>
              </a:r>
              <a:endParaRPr b="0" sz="3200">
                <a:solidFill>
                  <a:srgbClr val="0F4C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t" sz="16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Un'app Android per il tracciamento e la documentazione dei viaggi</a:t>
              </a:r>
              <a:endParaRPr b="0" sz="16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it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Sviluppatore: </a:t>
              </a:r>
              <a:r>
                <a:rPr b="0" lang="it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Raffaele Melluso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Corso: Programmazione Mobile</a:t>
              </a:r>
              <a:endParaRPr b="0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8" name="Google Shape;68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Architettura e Funzionalità Locale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0" name="Google Shape;70;p15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5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75" name="Google Shape;75;p15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381000" y="1143000"/>
            <a:ext cx="8382000" cy="3619500"/>
            <a:chOff x="0" y="0"/>
            <a:chExt cx="8382000" cy="3619500"/>
          </a:xfrm>
        </p:grpSpPr>
        <p:sp>
          <p:nvSpPr>
            <p:cNvPr id="77" name="Google Shape;77;p15"/>
            <p:cNvSpPr txBox="1"/>
            <p:nvPr/>
          </p:nvSpPr>
          <p:spPr>
            <a:xfrm>
              <a:off x="0" y="0"/>
              <a:ext cx="3810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Xplore</a:t>
              </a: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documenta e traccia i viaggi combinando localizzazione, contapassi e mappe.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La versione finale è prevalentemente locale: i dati dei viaggi, dei punti di interesse (POI) e delle statistiche sono interamente gestiti tramite </a:t>
              </a:r>
              <a:r>
                <a:rPr b="1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Room</a:t>
              </a: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Firebase Authentication</a:t>
              </a: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gestisce l'identità dell'utente in sicurezza.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Per dimostrare l'interazione social senza un backend remoto, l'app utilizza dati dimostrativi locali simulando altri viaggiatori, denominati </a:t>
              </a:r>
              <a:r>
                <a:rPr b="1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ghost</a:t>
              </a: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, con percorsi e visite generate internamente.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78" name="Google Shape;7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91000" y="285750"/>
              <a:ext cx="4191000" cy="2357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" name="Google Shape;79;p15"/>
          <p:cNvPicPr preferRelativeResize="0"/>
          <p:nvPr/>
        </p:nvPicPr>
        <p:blipFill rotWithShape="1">
          <a:blip r:embed="rId4">
            <a:alphaModFix/>
          </a:blip>
          <a:srcRect b="59537" l="7732" r="85880" t="37576"/>
          <a:stretch/>
        </p:blipFill>
        <p:spPr>
          <a:xfrm>
            <a:off x="7609975" y="23635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Aree Funzionali dell'Applicazione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5" name="Google Shape;85;p16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86" name="Google Shape;86;p16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6"/>
          <p:cNvGrpSpPr/>
          <p:nvPr/>
        </p:nvGrpSpPr>
        <p:grpSpPr>
          <a:xfrm>
            <a:off x="381000" y="1047750"/>
            <a:ext cx="3635400" cy="2162100"/>
            <a:chOff x="381000" y="1047750"/>
            <a:chExt cx="3635400" cy="2162100"/>
          </a:xfrm>
        </p:grpSpPr>
        <p:grpSp>
          <p:nvGrpSpPr>
            <p:cNvPr id="92" name="Google Shape;92;p16"/>
            <p:cNvGrpSpPr/>
            <p:nvPr/>
          </p:nvGrpSpPr>
          <p:grpSpPr>
            <a:xfrm>
              <a:off x="381000" y="1066800"/>
              <a:ext cx="228600" cy="228600"/>
              <a:chOff x="0" y="0"/>
              <a:chExt cx="228600" cy="228600"/>
            </a:xfrm>
          </p:grpSpPr>
          <p:sp>
            <p:nvSpPr>
              <p:cNvPr id="93" name="Google Shape;93;p16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6"/>
              <p:cNvSpPr/>
              <p:nvPr/>
            </p:nvSpPr>
            <p:spPr>
              <a:xfrm>
                <a:off x="66675" y="76200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7500"/>
                    </a:moveTo>
                    <a:lnTo>
                      <a:pt x="42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5" name="Google Shape;95;p16"/>
            <p:cNvSpPr txBox="1"/>
            <p:nvPr/>
          </p:nvSpPr>
          <p:spPr>
            <a:xfrm>
              <a:off x="723900" y="1047750"/>
              <a:ext cx="3292500" cy="21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Registrazione Percorsi in Background</a:t>
              </a:r>
              <a:endParaRPr b="0" sz="12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Tracciamento continuo dei tragitti mediante GPS e sensore contapassi gestiti in background.</a:t>
              </a:r>
              <a:endParaRPr b="0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Notifica persistente con possibilità di fermare il servizio quando si vuole</a:t>
              </a:r>
              <a:endParaRPr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6" name="Google Shape;96;p16" title="onboard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9275" y="981075"/>
            <a:ext cx="1812959" cy="39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title="onboard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4634" y="981075"/>
            <a:ext cx="1821233" cy="39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 rotWithShape="1">
          <a:blip r:embed="rId6">
            <a:alphaModFix/>
          </a:blip>
          <a:srcRect b="39260" l="0" r="0" t="35555"/>
          <a:stretch/>
        </p:blipFill>
        <p:spPr>
          <a:xfrm>
            <a:off x="465300" y="2387125"/>
            <a:ext cx="3466799" cy="192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 rotWithShape="1">
          <a:blip r:embed="rId6">
            <a:alphaModFix/>
          </a:blip>
          <a:srcRect b="59537" l="7732" r="85880" t="37576"/>
          <a:stretch/>
        </p:blipFill>
        <p:spPr>
          <a:xfrm>
            <a:off x="760182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Aree Funzionali dell'Applicazione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5" name="Google Shape;105;p17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106" name="Google Shape;106;p17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7"/>
          <p:cNvGrpSpPr/>
          <p:nvPr/>
        </p:nvGrpSpPr>
        <p:grpSpPr>
          <a:xfrm>
            <a:off x="381075" y="1033550"/>
            <a:ext cx="2971890" cy="571500"/>
            <a:chOff x="381075" y="1033550"/>
            <a:chExt cx="2971890" cy="571500"/>
          </a:xfrm>
        </p:grpSpPr>
        <p:sp>
          <p:nvSpPr>
            <p:cNvPr id="112" name="Google Shape;112;p17"/>
            <p:cNvSpPr/>
            <p:nvPr/>
          </p:nvSpPr>
          <p:spPr>
            <a:xfrm>
              <a:off x="447675" y="114300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0" y="67500"/>
                  </a:moveTo>
                  <a:lnTo>
                    <a:pt x="42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17"/>
            <p:cNvGrpSpPr/>
            <p:nvPr/>
          </p:nvGrpSpPr>
          <p:grpSpPr>
            <a:xfrm>
              <a:off x="381075" y="1052600"/>
              <a:ext cx="228600" cy="228600"/>
              <a:chOff x="75" y="-728575"/>
              <a:chExt cx="228600" cy="228600"/>
            </a:xfrm>
          </p:grpSpPr>
          <p:sp>
            <p:nvSpPr>
              <p:cNvPr id="114" name="Google Shape;114;p17"/>
              <p:cNvSpPr/>
              <p:nvPr/>
            </p:nvSpPr>
            <p:spPr>
              <a:xfrm>
                <a:off x="75" y="-728575"/>
                <a:ext cx="228600" cy="2286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7"/>
              <p:cNvSpPr/>
              <p:nvPr/>
            </p:nvSpPr>
            <p:spPr>
              <a:xfrm>
                <a:off x="66675" y="-652387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7500"/>
                    </a:moveTo>
                    <a:lnTo>
                      <a:pt x="42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" name="Google Shape;116;p17"/>
            <p:cNvSpPr txBox="1"/>
            <p:nvPr/>
          </p:nvSpPr>
          <p:spPr>
            <a:xfrm>
              <a:off x="730965" y="1033550"/>
              <a:ext cx="262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5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Mappa e Ghost Simulati</a:t>
              </a:r>
              <a:endParaRPr b="0"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Visualizzazione interattiva della propria posizione, del percorso fatto, dei punti di interesse (POI)</a:t>
              </a:r>
              <a:r>
                <a:rPr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e</a:t>
              </a:r>
              <a:r>
                <a:rPr b="0"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dei ghost simulati.</a:t>
              </a:r>
              <a:r>
                <a:rPr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I ghosts hanno percorsi, punti di interesse, voti e mezzi presi.</a:t>
              </a:r>
              <a:endParaRPr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17" name="Google Shape;117;p17" title="ho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2825" y="981075"/>
            <a:ext cx="1960613" cy="39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 rotWithShape="1">
          <a:blip r:embed="rId5">
            <a:alphaModFix/>
          </a:blip>
          <a:srcRect b="5096" l="0" r="0" t="0"/>
          <a:stretch/>
        </p:blipFill>
        <p:spPr>
          <a:xfrm>
            <a:off x="4087975" y="981075"/>
            <a:ext cx="1892625" cy="395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 rotWithShape="1">
          <a:blip r:embed="rId6">
            <a:alphaModFix/>
          </a:blip>
          <a:srcRect b="59537" l="7732" r="85880" t="37576"/>
          <a:stretch/>
        </p:blipFill>
        <p:spPr>
          <a:xfrm>
            <a:off x="7601825" y="238125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Aree Funzionali dell'Applicazione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5" name="Google Shape;125;p18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126" name="Google Shape;126;p18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8"/>
          <p:cNvGrpSpPr/>
          <p:nvPr/>
        </p:nvGrpSpPr>
        <p:grpSpPr>
          <a:xfrm>
            <a:off x="381000" y="1047750"/>
            <a:ext cx="2871600" cy="571500"/>
            <a:chOff x="381000" y="1047750"/>
            <a:chExt cx="2871600" cy="571500"/>
          </a:xfrm>
        </p:grpSpPr>
        <p:grpSp>
          <p:nvGrpSpPr>
            <p:cNvPr id="132" name="Google Shape;132;p18"/>
            <p:cNvGrpSpPr/>
            <p:nvPr/>
          </p:nvGrpSpPr>
          <p:grpSpPr>
            <a:xfrm>
              <a:off x="381000" y="1066800"/>
              <a:ext cx="228600" cy="228600"/>
              <a:chOff x="0" y="0"/>
              <a:chExt cx="228600" cy="228600"/>
            </a:xfrm>
          </p:grpSpPr>
          <p:sp>
            <p:nvSpPr>
              <p:cNvPr id="133" name="Google Shape;133;p18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8"/>
              <p:cNvSpPr/>
              <p:nvPr/>
            </p:nvSpPr>
            <p:spPr>
              <a:xfrm>
                <a:off x="66675" y="76200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7500"/>
                    </a:moveTo>
                    <a:lnTo>
                      <a:pt x="42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5" name="Google Shape;135;p18"/>
            <p:cNvSpPr txBox="1"/>
            <p:nvPr/>
          </p:nvSpPr>
          <p:spPr>
            <a:xfrm>
              <a:off x="723900" y="1047750"/>
              <a:ext cx="2528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15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Sistema di Prossimità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Modulo di notifica automatica in tempo reale per segnalare i POI nelle vicinanze dell'utente.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136" name="Google Shape;136;p18" title="home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1223" y="1047750"/>
            <a:ext cx="1714175" cy="380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0000" y="981075"/>
            <a:ext cx="1810247" cy="398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5000" y="1009800"/>
            <a:ext cx="1752600" cy="385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7">
            <a:alphaModFix/>
          </a:blip>
          <a:srcRect b="59537" l="7732" r="85880" t="37576"/>
          <a:stretch/>
        </p:blipFill>
        <p:spPr>
          <a:xfrm>
            <a:off x="760182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Aree Funzionali dell'Applicazione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5" name="Google Shape;145;p19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146" name="Google Shape;146;p19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9"/>
          <p:cNvGrpSpPr/>
          <p:nvPr/>
        </p:nvGrpSpPr>
        <p:grpSpPr>
          <a:xfrm>
            <a:off x="381000" y="1047750"/>
            <a:ext cx="2476500" cy="2258700"/>
            <a:chOff x="381000" y="1047750"/>
            <a:chExt cx="2476500" cy="2258700"/>
          </a:xfrm>
        </p:grpSpPr>
        <p:grpSp>
          <p:nvGrpSpPr>
            <p:cNvPr id="152" name="Google Shape;152;p19"/>
            <p:cNvGrpSpPr/>
            <p:nvPr/>
          </p:nvGrpSpPr>
          <p:grpSpPr>
            <a:xfrm>
              <a:off x="381000" y="1066800"/>
              <a:ext cx="228600" cy="228600"/>
              <a:chOff x="0" y="0"/>
              <a:chExt cx="228600" cy="228600"/>
            </a:xfrm>
          </p:grpSpPr>
          <p:sp>
            <p:nvSpPr>
              <p:cNvPr id="153" name="Google Shape;153;p19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9"/>
              <p:cNvSpPr/>
              <p:nvPr/>
            </p:nvSpPr>
            <p:spPr>
              <a:xfrm>
                <a:off x="66675" y="76200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7500"/>
                    </a:moveTo>
                    <a:lnTo>
                      <a:pt x="42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5" name="Google Shape;155;p19"/>
            <p:cNvSpPr txBox="1"/>
            <p:nvPr/>
          </p:nvSpPr>
          <p:spPr>
            <a:xfrm>
              <a:off x="723900" y="1047750"/>
              <a:ext cx="2133600" cy="22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15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Statistiche e Trend Temporali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Calcolo di metriche aggregate e analisi dei trend (giorno, settimana, mese, anno) basati sui voti espressi per i POI. Si possono filtrare per attrazioni o per città da visitare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156" name="Google Shape;156;p19" title="trend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8522" y="1207150"/>
            <a:ext cx="1761078" cy="365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title="trend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2603" y="1160638"/>
            <a:ext cx="1833579" cy="374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title="tren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575" y="855401"/>
            <a:ext cx="1931675" cy="4049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7">
            <a:alphaModFix/>
          </a:blip>
          <a:srcRect b="59537" l="7732" r="85880" t="37576"/>
          <a:stretch/>
        </p:blipFill>
        <p:spPr>
          <a:xfrm>
            <a:off x="760182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Aree Funzionali dell'Applicazione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166" name="Google Shape;166;p20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20"/>
          <p:cNvGrpSpPr/>
          <p:nvPr/>
        </p:nvGrpSpPr>
        <p:grpSpPr>
          <a:xfrm>
            <a:off x="381000" y="1047750"/>
            <a:ext cx="2784300" cy="571500"/>
            <a:chOff x="381000" y="1047750"/>
            <a:chExt cx="2784300" cy="571500"/>
          </a:xfrm>
        </p:grpSpPr>
        <p:grpSp>
          <p:nvGrpSpPr>
            <p:cNvPr id="172" name="Google Shape;172;p20"/>
            <p:cNvGrpSpPr/>
            <p:nvPr/>
          </p:nvGrpSpPr>
          <p:grpSpPr>
            <a:xfrm>
              <a:off x="381000" y="1066800"/>
              <a:ext cx="228600" cy="228600"/>
              <a:chOff x="0" y="0"/>
              <a:chExt cx="228600" cy="228600"/>
            </a:xfrm>
          </p:grpSpPr>
          <p:sp>
            <p:nvSpPr>
              <p:cNvPr id="173" name="Google Shape;173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66675" y="76200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7500"/>
                    </a:moveTo>
                    <a:lnTo>
                      <a:pt x="42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5" name="Google Shape;175;p20"/>
            <p:cNvSpPr txBox="1"/>
            <p:nvPr/>
          </p:nvSpPr>
          <p:spPr>
            <a:xfrm>
              <a:off x="723900" y="1047750"/>
              <a:ext cx="244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5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Libretto Viaggi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Sezione per conservare i ricordi di viaggio, con supporto al salvataggio di foto, dettagli sui trasporti, percorsi, statistiche di viaggio e punti di interesse visitati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8475" y="1009800"/>
            <a:ext cx="1810247" cy="398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8772" y="1047750"/>
            <a:ext cx="1810247" cy="398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9068" y="981076"/>
            <a:ext cx="1832556" cy="403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7">
            <a:alphaModFix/>
          </a:blip>
          <a:srcRect b="59537" l="7732" r="85880" t="37576"/>
          <a:stretch/>
        </p:blipFill>
        <p:spPr>
          <a:xfrm>
            <a:off x="7639050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763" y="957263"/>
            <a:ext cx="8220000" cy="3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381000" y="285750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Architettura: MVVM &amp; Repository Pattern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7" name="Google Shape;187;p21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188" name="Google Shape;188;p21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1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92" name="Google Shape;192;p21"/>
          <p:cNvSpPr/>
          <p:nvPr/>
        </p:nvSpPr>
        <p:spPr>
          <a:xfrm>
            <a:off x="381000" y="857250"/>
            <a:ext cx="8382000" cy="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" name="Google Shape;193;p21"/>
          <p:cNvGrpSpPr/>
          <p:nvPr/>
        </p:nvGrpSpPr>
        <p:grpSpPr>
          <a:xfrm>
            <a:off x="381000" y="1190625"/>
            <a:ext cx="8381850" cy="2190900"/>
            <a:chOff x="0" y="0"/>
            <a:chExt cx="8381850" cy="2190900"/>
          </a:xfrm>
        </p:grpSpPr>
        <p:grpSp>
          <p:nvGrpSpPr>
            <p:cNvPr id="194" name="Google Shape;194;p21"/>
            <p:cNvGrpSpPr/>
            <p:nvPr/>
          </p:nvGrpSpPr>
          <p:grpSpPr>
            <a:xfrm>
              <a:off x="0" y="0"/>
              <a:ext cx="1809600" cy="2190900"/>
              <a:chOff x="0" y="0"/>
              <a:chExt cx="1809600" cy="2190900"/>
            </a:xfrm>
          </p:grpSpPr>
          <p:sp>
            <p:nvSpPr>
              <p:cNvPr id="195" name="Google Shape;195;p21"/>
              <p:cNvSpPr/>
              <p:nvPr/>
            </p:nvSpPr>
            <p:spPr>
              <a:xfrm>
                <a:off x="0" y="0"/>
                <a:ext cx="1809600" cy="2190900"/>
              </a:xfrm>
              <a:prstGeom prst="roundRect">
                <a:avLst>
                  <a:gd fmla="val 5263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1"/>
              <p:cNvSpPr/>
              <p:nvPr/>
            </p:nvSpPr>
            <p:spPr>
              <a:xfrm>
                <a:off x="0" y="0"/>
                <a:ext cx="18096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1"/>
              <p:cNvSpPr txBox="1"/>
              <p:nvPr/>
            </p:nvSpPr>
            <p:spPr>
              <a:xfrm>
                <a:off x="114300" y="190500"/>
                <a:ext cx="15813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UI Layer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it" sz="12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Jetpack Compose</a:t>
                </a:r>
                <a:endParaRPr b="1" sz="12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9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Inoltra gli eventi dell'utente ai ViewModel.</a:t>
                </a:r>
                <a:endParaRPr b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b="0" lang="it" sz="9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Osserva lo stato reattivo.</a:t>
                </a:r>
                <a:endParaRPr b="0" sz="9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98" name="Google Shape;198;p21"/>
            <p:cNvGrpSpPr/>
            <p:nvPr/>
          </p:nvGrpSpPr>
          <p:grpSpPr>
            <a:xfrm>
              <a:off x="1857375" y="1009650"/>
              <a:ext cx="285750" cy="76200"/>
              <a:chOff x="47625" y="-38100"/>
              <a:chExt cx="285750" cy="76200"/>
            </a:xfrm>
          </p:grpSpPr>
          <p:pic>
            <p:nvPicPr>
              <p:cNvPr id="199" name="Google Shape;199;p2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7625" y="-9525"/>
                <a:ext cx="2382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0" name="Google Shape;200;p21"/>
              <p:cNvSpPr/>
              <p:nvPr/>
            </p:nvSpPr>
            <p:spPr>
              <a:xfrm>
                <a:off x="257175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" name="Google Shape;201;p21"/>
            <p:cNvGrpSpPr/>
            <p:nvPr/>
          </p:nvGrpSpPr>
          <p:grpSpPr>
            <a:xfrm>
              <a:off x="2190750" y="0"/>
              <a:ext cx="1809600" cy="2190900"/>
              <a:chOff x="0" y="0"/>
              <a:chExt cx="1809600" cy="2190900"/>
            </a:xfrm>
          </p:grpSpPr>
          <p:sp>
            <p:nvSpPr>
              <p:cNvPr id="202" name="Google Shape;202;p21"/>
              <p:cNvSpPr/>
              <p:nvPr/>
            </p:nvSpPr>
            <p:spPr>
              <a:xfrm>
                <a:off x="0" y="0"/>
                <a:ext cx="1809600" cy="2190900"/>
              </a:xfrm>
              <a:prstGeom prst="roundRect">
                <a:avLst>
                  <a:gd fmla="val 5263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1"/>
              <p:cNvSpPr/>
              <p:nvPr/>
            </p:nvSpPr>
            <p:spPr>
              <a:xfrm>
                <a:off x="0" y="0"/>
                <a:ext cx="18096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21"/>
              <p:cNvSpPr txBox="1"/>
              <p:nvPr/>
            </p:nvSpPr>
            <p:spPr>
              <a:xfrm>
                <a:off x="114300" y="190500"/>
                <a:ext cx="15813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0F4C81"/>
                    </a:solidFill>
                    <a:latin typeface="Inter"/>
                    <a:ea typeface="Inter"/>
                    <a:cs typeface="Inter"/>
                    <a:sym typeface="Inter"/>
                  </a:rPr>
                  <a:t>State &amp; Logic</a:t>
                </a:r>
                <a:endParaRPr b="1" sz="1000">
                  <a:solidFill>
                    <a:srgbClr val="0F4C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it" sz="12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ViewModel</a:t>
                </a:r>
                <a:endParaRPr b="1" sz="12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9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Gestisce la logica di presentazione e mantiene lo stato della UI.</a:t>
                </a:r>
                <a:endParaRPr b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b="0" lang="it" sz="95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Comunica con i Repository.</a:t>
                </a:r>
                <a:endParaRPr b="0" sz="95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05" name="Google Shape;205;p21"/>
            <p:cNvGrpSpPr/>
            <p:nvPr/>
          </p:nvGrpSpPr>
          <p:grpSpPr>
            <a:xfrm>
              <a:off x="4048125" y="1009650"/>
              <a:ext cx="285750" cy="76200"/>
              <a:chOff x="47625" y="-38100"/>
              <a:chExt cx="285750" cy="76200"/>
            </a:xfrm>
          </p:grpSpPr>
          <p:pic>
            <p:nvPicPr>
              <p:cNvPr id="206" name="Google Shape;206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7625" y="-9525"/>
                <a:ext cx="2382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7" name="Google Shape;207;p21"/>
              <p:cNvSpPr/>
              <p:nvPr/>
            </p:nvSpPr>
            <p:spPr>
              <a:xfrm>
                <a:off x="257175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21"/>
            <p:cNvGrpSpPr/>
            <p:nvPr/>
          </p:nvGrpSpPr>
          <p:grpSpPr>
            <a:xfrm>
              <a:off x="4381500" y="0"/>
              <a:ext cx="1809600" cy="2190900"/>
              <a:chOff x="0" y="0"/>
              <a:chExt cx="1809600" cy="2190900"/>
            </a:xfrm>
          </p:grpSpPr>
          <p:sp>
            <p:nvSpPr>
              <p:cNvPr id="209" name="Google Shape;209;p21"/>
              <p:cNvSpPr/>
              <p:nvPr/>
            </p:nvSpPr>
            <p:spPr>
              <a:xfrm>
                <a:off x="0" y="0"/>
                <a:ext cx="1809600" cy="2190900"/>
              </a:xfrm>
              <a:prstGeom prst="roundRect">
                <a:avLst>
                  <a:gd fmla="val 5263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1"/>
              <p:cNvSpPr/>
              <p:nvPr/>
            </p:nvSpPr>
            <p:spPr>
              <a:xfrm>
                <a:off x="0" y="0"/>
                <a:ext cx="18096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1"/>
              <p:cNvSpPr txBox="1"/>
              <p:nvPr/>
            </p:nvSpPr>
            <p:spPr>
              <a:xfrm>
                <a:off x="114300" y="190500"/>
                <a:ext cx="15813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Abstraction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it" sz="12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Repository</a:t>
                </a:r>
                <a:endParaRPr b="1" sz="12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9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Astrae e coordina le sorgenti dati sottostanti.</a:t>
                </a:r>
                <a:endParaRPr b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b="0" lang="it" sz="9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Fornisce un'interfaccia pulita verso l'alto.</a:t>
                </a:r>
                <a:endParaRPr b="0" sz="9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12" name="Google Shape;212;p21"/>
            <p:cNvGrpSpPr/>
            <p:nvPr/>
          </p:nvGrpSpPr>
          <p:grpSpPr>
            <a:xfrm>
              <a:off x="6238875" y="1009650"/>
              <a:ext cx="285750" cy="76200"/>
              <a:chOff x="47625" y="-38100"/>
              <a:chExt cx="285750" cy="76200"/>
            </a:xfrm>
          </p:grpSpPr>
          <p:pic>
            <p:nvPicPr>
              <p:cNvPr id="213" name="Google Shape;213;p2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7625" y="-9525"/>
                <a:ext cx="2382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4" name="Google Shape;214;p21"/>
              <p:cNvSpPr/>
              <p:nvPr/>
            </p:nvSpPr>
            <p:spPr>
              <a:xfrm>
                <a:off x="257175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21"/>
            <p:cNvGrpSpPr/>
            <p:nvPr/>
          </p:nvGrpSpPr>
          <p:grpSpPr>
            <a:xfrm>
              <a:off x="6572250" y="0"/>
              <a:ext cx="1809600" cy="2190900"/>
              <a:chOff x="0" y="0"/>
              <a:chExt cx="1809600" cy="2190900"/>
            </a:xfrm>
          </p:grpSpPr>
          <p:sp>
            <p:nvSpPr>
              <p:cNvPr id="216" name="Google Shape;216;p21"/>
              <p:cNvSpPr/>
              <p:nvPr/>
            </p:nvSpPr>
            <p:spPr>
              <a:xfrm>
                <a:off x="0" y="0"/>
                <a:ext cx="1809600" cy="2190900"/>
              </a:xfrm>
              <a:prstGeom prst="roundRect">
                <a:avLst>
                  <a:gd fmla="val 5263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1"/>
              <p:cNvSpPr/>
              <p:nvPr/>
            </p:nvSpPr>
            <p:spPr>
              <a:xfrm>
                <a:off x="0" y="0"/>
                <a:ext cx="18096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1"/>
              <p:cNvSpPr txBox="1"/>
              <p:nvPr/>
            </p:nvSpPr>
            <p:spPr>
              <a:xfrm>
                <a:off x="95250" y="152400"/>
                <a:ext cx="1619100" cy="1905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000" u="none" strike="noStrike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 Sources</a:t>
                </a:r>
                <a:endParaRPr b="0" i="0" sz="10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it" sz="950" u="none" strike="noStrike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Room &amp; DataStore</a:t>
                </a:r>
                <a:endParaRPr b="0" i="0" sz="95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it" sz="800" u="none" strike="noStrik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Persistenza Locale</a:t>
                </a:r>
                <a:endParaRPr b="0" i="0" sz="8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it" sz="950" u="none" strike="noStrike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Firebase</a:t>
                </a:r>
                <a:endParaRPr b="0" i="0" sz="95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it" sz="800" u="none" strike="noStrik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Autenticazione Cloud</a:t>
                </a:r>
                <a:endParaRPr b="0" i="0" sz="8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it" sz="950" u="none" strike="noStrike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Sensori</a:t>
                </a:r>
                <a:endParaRPr b="0" i="0" sz="95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i="0" lang="it" sz="800" u="none" strike="noStrik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Foreground Service</a:t>
                </a:r>
                <a:endParaRPr b="0" i="0" sz="8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219" name="Google Shape;219;p21"/>
          <p:cNvGrpSpPr/>
          <p:nvPr/>
        </p:nvGrpSpPr>
        <p:grpSpPr>
          <a:xfrm>
            <a:off x="381000" y="3619500"/>
            <a:ext cx="8382000" cy="1047900"/>
            <a:chOff x="0" y="0"/>
            <a:chExt cx="8382000" cy="1047900"/>
          </a:xfrm>
        </p:grpSpPr>
        <p:sp>
          <p:nvSpPr>
            <p:cNvPr id="220" name="Google Shape;220;p21"/>
            <p:cNvSpPr/>
            <p:nvPr/>
          </p:nvSpPr>
          <p:spPr>
            <a:xfrm>
              <a:off x="0" y="0"/>
              <a:ext cx="8382000" cy="10479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0" y="0"/>
              <a:ext cx="76200" cy="1047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1"/>
            <p:cNvSpPr txBox="1"/>
            <p:nvPr/>
          </p:nvSpPr>
          <p:spPr>
            <a:xfrm>
              <a:off x="238125" y="142875"/>
              <a:ext cx="7905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Isolamento e Disaccoppiamento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1150">
                  <a:solidFill>
                    <a:srgbClr val="0F4C81"/>
                  </a:solidFill>
                  <a:latin typeface="Inter"/>
                  <a:ea typeface="Inter"/>
                  <a:cs typeface="Inter"/>
                  <a:sym typeface="Inter"/>
                </a:rPr>
                <a:t>La </a:t>
              </a:r>
              <a:r>
                <a:rPr b="1" lang="it" sz="11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UI non accede mai direttamente</a:t>
              </a:r>
              <a:r>
                <a:rPr b="0" lang="it" sz="1150">
                  <a:solidFill>
                    <a:srgbClr val="0F4C81"/>
                  </a:solidFill>
                  <a:latin typeface="Inter"/>
                  <a:ea typeface="Inter"/>
                  <a:cs typeface="Inter"/>
                  <a:sym typeface="Inter"/>
                </a:rPr>
                <a:t> al database o ai sensori. La logica applicativa rimane perfettamente isolata, garantendo testabilità, modularità e manutenibilità del codice.</a:t>
              </a:r>
              <a:endParaRPr b="0" sz="1150">
                <a:solidFill>
                  <a:srgbClr val="0F4C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23" name="Google Shape;223;p21"/>
          <p:cNvPicPr preferRelativeResize="0"/>
          <p:nvPr/>
        </p:nvPicPr>
        <p:blipFill rotWithShape="1">
          <a:blip r:embed="rId7">
            <a:alphaModFix/>
          </a:blip>
          <a:srcRect b="59537" l="7732" r="85880" t="37576"/>
          <a:stretch/>
        </p:blipFill>
        <p:spPr>
          <a:xfrm>
            <a:off x="7639050" y="23340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2"/>
          <p:cNvGrpSpPr/>
          <p:nvPr/>
        </p:nvGrpSpPr>
        <p:grpSpPr>
          <a:xfrm>
            <a:off x="381000" y="247650"/>
            <a:ext cx="8534400" cy="628800"/>
            <a:chOff x="381000" y="247650"/>
            <a:chExt cx="8534400" cy="628800"/>
          </a:xfrm>
        </p:grpSpPr>
        <p:sp>
          <p:nvSpPr>
            <p:cNvPr id="229" name="Google Shape;229;p22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Architettura ViewModel &amp; Stato UI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30" name="Google Shape;230;p22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231" name="Google Shape;231;p22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2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2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2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35" name="Google Shape;235;p22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" name="Google Shape;236;p22"/>
          <p:cNvGrpSpPr/>
          <p:nvPr/>
        </p:nvGrpSpPr>
        <p:grpSpPr>
          <a:xfrm>
            <a:off x="381000" y="1095375"/>
            <a:ext cx="8382000" cy="3476550"/>
            <a:chOff x="0" y="0"/>
            <a:chExt cx="8382000" cy="3476550"/>
          </a:xfrm>
        </p:grpSpPr>
        <p:grpSp>
          <p:nvGrpSpPr>
            <p:cNvPr id="237" name="Google Shape;237;p22"/>
            <p:cNvGrpSpPr/>
            <p:nvPr/>
          </p:nvGrpSpPr>
          <p:grpSpPr>
            <a:xfrm>
              <a:off x="0" y="0"/>
              <a:ext cx="4000500" cy="1666800"/>
              <a:chOff x="0" y="0"/>
              <a:chExt cx="4000500" cy="1666800"/>
            </a:xfrm>
          </p:grpSpPr>
          <p:sp>
            <p:nvSpPr>
              <p:cNvPr id="238" name="Google Shape;238;p22"/>
              <p:cNvSpPr/>
              <p:nvPr/>
            </p:nvSpPr>
            <p:spPr>
              <a:xfrm>
                <a:off x="0" y="0"/>
                <a:ext cx="4000500" cy="1666800"/>
              </a:xfrm>
              <a:prstGeom prst="roundRect">
                <a:avLst>
                  <a:gd fmla="val 68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2"/>
              <p:cNvSpPr/>
              <p:nvPr/>
            </p:nvSpPr>
            <p:spPr>
              <a:xfrm>
                <a:off x="0" y="0"/>
                <a:ext cx="4000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2"/>
              <p:cNvSpPr txBox="1"/>
              <p:nvPr/>
            </p:nvSpPr>
            <p:spPr>
              <a:xfrm>
                <a:off x="190500" y="152400"/>
                <a:ext cx="36195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Architettura dei Componenti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400">
                    <a:solidFill>
                      <a:srgbClr val="2563EB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ViewModel Dedicati</a:t>
                </a:r>
                <a:endParaRPr b="0" sz="14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Ogni macrofunzionalità è isolata in un proprio ViewModel responsabile della logica di business: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it" sz="100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MapViewModel • TravelJournalViewModel • TrendViewModel • ProfileViewModel • LoginViewModel</a:t>
                </a:r>
                <a:endParaRPr b="0" sz="10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41" name="Google Shape;241;p22"/>
            <p:cNvGrpSpPr/>
            <p:nvPr/>
          </p:nvGrpSpPr>
          <p:grpSpPr>
            <a:xfrm>
              <a:off x="4381500" y="0"/>
              <a:ext cx="4000500" cy="1666800"/>
              <a:chOff x="0" y="0"/>
              <a:chExt cx="4000500" cy="1666800"/>
            </a:xfrm>
          </p:grpSpPr>
          <p:sp>
            <p:nvSpPr>
              <p:cNvPr id="242" name="Google Shape;242;p22"/>
              <p:cNvSpPr/>
              <p:nvPr/>
            </p:nvSpPr>
            <p:spPr>
              <a:xfrm>
                <a:off x="0" y="0"/>
                <a:ext cx="4000500" cy="1666800"/>
              </a:xfrm>
              <a:prstGeom prst="roundRect">
                <a:avLst>
                  <a:gd fmla="val 68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2"/>
              <p:cNvSpPr/>
              <p:nvPr/>
            </p:nvSpPr>
            <p:spPr>
              <a:xfrm>
                <a:off x="0" y="0"/>
                <a:ext cx="4000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2"/>
              <p:cNvSpPr txBox="1"/>
              <p:nvPr/>
            </p:nvSpPr>
            <p:spPr>
              <a:xfrm>
                <a:off x="190500" y="152400"/>
                <a:ext cx="36195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Flusso Dati Reattivo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400">
                    <a:solidFill>
                      <a:srgbClr val="2563EB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StateFlow &amp; Coroutine</a:t>
                </a:r>
                <a:endParaRPr b="0" sz="14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I ViewModel espongono stati immutabili tramite </a:t>
                </a:r>
                <a:r>
                  <a:rPr b="0" lang="it" sz="110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StateFlow</a:t>
                </a: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per garantire la consistenza dei dati.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Tutte le operazioni asincrone e in background sono eseguite in sicurezza utilizzando </a:t>
                </a:r>
                <a:r>
                  <a:rPr b="0" lang="it" sz="110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viewModelScope</a:t>
                </a: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5" name="Google Shape;245;p22"/>
            <p:cNvGrpSpPr/>
            <p:nvPr/>
          </p:nvGrpSpPr>
          <p:grpSpPr>
            <a:xfrm>
              <a:off x="0" y="1809750"/>
              <a:ext cx="4000500" cy="1666800"/>
              <a:chOff x="0" y="0"/>
              <a:chExt cx="4000500" cy="1666800"/>
            </a:xfrm>
          </p:grpSpPr>
          <p:sp>
            <p:nvSpPr>
              <p:cNvPr id="246" name="Google Shape;246;p22"/>
              <p:cNvSpPr/>
              <p:nvPr/>
            </p:nvSpPr>
            <p:spPr>
              <a:xfrm>
                <a:off x="0" y="0"/>
                <a:ext cx="4000500" cy="1666800"/>
              </a:xfrm>
              <a:prstGeom prst="roundRect">
                <a:avLst>
                  <a:gd fmla="val 68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2"/>
              <p:cNvSpPr/>
              <p:nvPr/>
            </p:nvSpPr>
            <p:spPr>
              <a:xfrm>
                <a:off x="0" y="0"/>
                <a:ext cx="4000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2"/>
              <p:cNvSpPr txBox="1"/>
              <p:nvPr/>
            </p:nvSpPr>
            <p:spPr>
              <a:xfrm>
                <a:off x="190500" y="152400"/>
                <a:ext cx="36195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Rendering Dichiarativo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400">
                    <a:solidFill>
                      <a:srgbClr val="2563EB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UI in Jetpack Compose</a:t>
                </a:r>
                <a:endParaRPr b="0" sz="14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La UI raccoglie lo stato esposto dal ViewModel e si ricompone reattivamente ad ogni modifica.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1" lang="it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L'interfaccia reagisce automaticamente ai cambiamenti di stato senza aggiornamenti manuali.</a:t>
                </a:r>
                <a:endParaRPr b="0" i="1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9" name="Google Shape;249;p22"/>
            <p:cNvGrpSpPr/>
            <p:nvPr/>
          </p:nvGrpSpPr>
          <p:grpSpPr>
            <a:xfrm>
              <a:off x="4381500" y="1809750"/>
              <a:ext cx="4000500" cy="1666800"/>
              <a:chOff x="0" y="0"/>
              <a:chExt cx="4000500" cy="1666800"/>
            </a:xfrm>
          </p:grpSpPr>
          <p:sp>
            <p:nvSpPr>
              <p:cNvPr id="250" name="Google Shape;250;p22"/>
              <p:cNvSpPr/>
              <p:nvPr/>
            </p:nvSpPr>
            <p:spPr>
              <a:xfrm>
                <a:off x="0" y="0"/>
                <a:ext cx="4000500" cy="1666800"/>
              </a:xfrm>
              <a:prstGeom prst="roundRect">
                <a:avLst>
                  <a:gd fmla="val 68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2"/>
              <p:cNvSpPr/>
              <p:nvPr/>
            </p:nvSpPr>
            <p:spPr>
              <a:xfrm>
                <a:off x="0" y="0"/>
                <a:ext cx="4000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2"/>
              <p:cNvSpPr txBox="1"/>
              <p:nvPr/>
            </p:nvSpPr>
            <p:spPr>
              <a:xfrm>
                <a:off x="190500" y="152400"/>
                <a:ext cx="36195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Unica </a:t>
                </a: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Base </a:t>
                </a: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di Verità (Source of Truth)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400">
                    <a:solidFill>
                      <a:srgbClr val="2563EB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Stato Coerente</a:t>
                </a:r>
                <a:endParaRPr b="0" sz="14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Garantisce che la schermata non debba coordinare sorgenti indipendenti, ma si limiti a osservare un unico stato coerente.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Elimina gli disallineamenti di stato e semplifica il testing.</a:t>
                </a:r>
                <a:endParaRPr b="0" sz="11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pic>
        <p:nvPicPr>
          <p:cNvPr id="253" name="Google Shape;253;p22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23850" y="24765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9" name="Google Shape;259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3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Persistenza Reattiva e State Flow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61" name="Google Shape;261;p23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262" name="Google Shape;262;p23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3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3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3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66" name="Google Shape;266;p23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" name="Google Shape;267;p23"/>
          <p:cNvGrpSpPr/>
          <p:nvPr/>
        </p:nvGrpSpPr>
        <p:grpSpPr>
          <a:xfrm>
            <a:off x="2571750" y="1143000"/>
            <a:ext cx="4000500" cy="3619500"/>
            <a:chOff x="2190750" y="0"/>
            <a:chExt cx="4000500" cy="3619500"/>
          </a:xfrm>
        </p:grpSpPr>
        <p:sp>
          <p:nvSpPr>
            <p:cNvPr id="268" name="Google Shape;268;p23"/>
            <p:cNvSpPr/>
            <p:nvPr/>
          </p:nvSpPr>
          <p:spPr>
            <a:xfrm>
              <a:off x="2190750" y="0"/>
              <a:ext cx="4000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3"/>
            <p:cNvSpPr txBox="1"/>
            <p:nvPr/>
          </p:nvSpPr>
          <p:spPr>
            <a:xfrm>
              <a:off x="2419350" y="228600"/>
              <a:ext cx="3543300" cy="3162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it" sz="9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MapViewModel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Un esempio chiave dell'architettura reattiva è il </a:t>
              </a:r>
              <a:r>
                <a:rPr b="1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MapViewModel</a:t>
              </a:r>
              <a:r>
                <a:rPr b="1" i="0" lang="it" sz="9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, che orchestra molteplici sorgenti di dati in tempo reale.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Utilizza l'operatore </a:t>
              </a:r>
              <a:r>
                <a:rPr b="1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combine</a:t>
              </a:r>
              <a:r>
                <a:rPr b="1" i="0" lang="it" sz="9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per unire reattivamente: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563EB"/>
                </a:buClr>
                <a:buSzPts val="925"/>
                <a:buFont typeface="Inter"/>
                <a:buChar char="●"/>
              </a:pPr>
              <a:r>
                <a:rPr b="0" i="0" lang="it" sz="1018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Posizione attuale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925"/>
                <a:buFont typeface="Inter"/>
                <a:buChar char="●"/>
              </a:pPr>
              <a:r>
                <a:rPr b="0" i="0" lang="it" sz="1018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Percorsi registrati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925"/>
                <a:buFont typeface="Inter"/>
                <a:buChar char="●"/>
              </a:pPr>
              <a:r>
                <a:rPr b="0" i="0" lang="it" sz="1018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Punti di interesse (POI)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925"/>
                <a:buFont typeface="Inter"/>
                <a:buChar char="●"/>
              </a:pPr>
              <a:r>
                <a:rPr b="0" i="0" lang="it" sz="1018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Ghost ed elementi tracciati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925"/>
                <a:buFont typeface="Inter"/>
                <a:buChar char="●"/>
              </a:pPr>
              <a:r>
                <a:rPr b="0" i="0" lang="it" sz="1018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Conteggio passi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i="0" lang="it" sz="1110" u="none" strike="noStrike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Tutti i flussi confluiscono in un unico stato aggiornato istantaneamente nella schermata Compose.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70" name="Google Shape;270;p23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32000" y="23390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4"/>
          <p:cNvGrpSpPr/>
          <p:nvPr/>
        </p:nvGrpSpPr>
        <p:grpSpPr>
          <a:xfrm>
            <a:off x="381000" y="247650"/>
            <a:ext cx="8534400" cy="628800"/>
            <a:chOff x="381000" y="247650"/>
            <a:chExt cx="8534400" cy="628800"/>
          </a:xfrm>
        </p:grpSpPr>
        <p:sp>
          <p:nvSpPr>
            <p:cNvPr id="276" name="Google Shape;276;p24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2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Flusso di Tracciamento in Background</a:t>
              </a:r>
              <a:endParaRPr b="1" sz="22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77" name="Google Shape;277;p24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278" name="Google Shape;278;p24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4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4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82" name="Google Shape;282;p24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24"/>
          <p:cNvGrpSpPr/>
          <p:nvPr/>
        </p:nvGrpSpPr>
        <p:grpSpPr>
          <a:xfrm>
            <a:off x="790575" y="1285875"/>
            <a:ext cx="7591425" cy="3190950"/>
            <a:chOff x="28575" y="95250"/>
            <a:chExt cx="7591425" cy="3190950"/>
          </a:xfrm>
        </p:grpSpPr>
        <p:sp>
          <p:nvSpPr>
            <p:cNvPr id="284" name="Google Shape;284;p24"/>
            <p:cNvSpPr/>
            <p:nvPr/>
          </p:nvSpPr>
          <p:spPr>
            <a:xfrm>
              <a:off x="104775" y="228600"/>
              <a:ext cx="19200" cy="25719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5" name="Google Shape;285;p24"/>
            <p:cNvGrpSpPr/>
            <p:nvPr/>
          </p:nvGrpSpPr>
          <p:grpSpPr>
            <a:xfrm>
              <a:off x="28575" y="95250"/>
              <a:ext cx="7591425" cy="619200"/>
              <a:chOff x="28575" y="95250"/>
              <a:chExt cx="7591425" cy="619200"/>
            </a:xfrm>
          </p:grpSpPr>
          <p:sp>
            <p:nvSpPr>
              <p:cNvPr id="286" name="Google Shape;286;p24"/>
              <p:cNvSpPr/>
              <p:nvPr/>
            </p:nvSpPr>
            <p:spPr>
              <a:xfrm>
                <a:off x="28575" y="142875"/>
                <a:ext cx="171600" cy="171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4"/>
              <p:cNvSpPr/>
              <p:nvPr/>
            </p:nvSpPr>
            <p:spPr>
              <a:xfrm>
                <a:off x="76200" y="1905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4"/>
              <p:cNvSpPr txBox="1"/>
              <p:nvPr/>
            </p:nvSpPr>
            <p:spPr>
              <a:xfrm>
                <a:off x="381000" y="95250"/>
                <a:ext cx="7239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300">
                    <a:solidFill>
                      <a:srgbClr val="0F4C8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1. Avvio Foreground Service</a:t>
                </a:r>
                <a:endParaRPr b="0" sz="1300">
                  <a:solidFill>
                    <a:srgbClr val="0F4C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Inizializzazione di </a:t>
                </a:r>
                <a:r>
                  <a:rPr b="0" lang="it" sz="1100">
                    <a:solidFill>
                      <a:srgbClr val="0F4C81"/>
                    </a:solidFill>
                    <a:latin typeface="Arial"/>
                    <a:ea typeface="Arial"/>
                    <a:cs typeface="Arial"/>
                    <a:sym typeface="Arial"/>
                  </a:rPr>
                  <a:t>TrackingService</a:t>
                </a: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con notifica persistente per garantire l'esecuzione continua anche con app in background o schermo spento.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89" name="Google Shape;289;p24"/>
            <p:cNvGrpSpPr/>
            <p:nvPr/>
          </p:nvGrpSpPr>
          <p:grpSpPr>
            <a:xfrm>
              <a:off x="28575" y="952500"/>
              <a:ext cx="7591425" cy="619200"/>
              <a:chOff x="28575" y="95250"/>
              <a:chExt cx="7591425" cy="619200"/>
            </a:xfrm>
          </p:grpSpPr>
          <p:sp>
            <p:nvSpPr>
              <p:cNvPr id="290" name="Google Shape;290;p24"/>
              <p:cNvSpPr/>
              <p:nvPr/>
            </p:nvSpPr>
            <p:spPr>
              <a:xfrm>
                <a:off x="28575" y="142875"/>
                <a:ext cx="171600" cy="171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4"/>
              <p:cNvSpPr/>
              <p:nvPr/>
            </p:nvSpPr>
            <p:spPr>
              <a:xfrm>
                <a:off x="76200" y="1905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4"/>
              <p:cNvSpPr txBox="1"/>
              <p:nvPr/>
            </p:nvSpPr>
            <p:spPr>
              <a:xfrm>
                <a:off x="381000" y="95250"/>
                <a:ext cx="7239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300">
                    <a:solidFill>
                      <a:srgbClr val="0F4C8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2. Lettura Sensori (GPS e Contapassi)</a:t>
                </a:r>
                <a:endParaRPr b="0" sz="1300">
                  <a:solidFill>
                    <a:srgbClr val="0F4C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Ricezione continua della posizione geografica dal provider Android e contestuale lettura dei dati dal sensore contapassi dispositivo.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3" name="Google Shape;293;p24"/>
            <p:cNvGrpSpPr/>
            <p:nvPr/>
          </p:nvGrpSpPr>
          <p:grpSpPr>
            <a:xfrm>
              <a:off x="28575" y="1809750"/>
              <a:ext cx="7591425" cy="619200"/>
              <a:chOff x="28575" y="95250"/>
              <a:chExt cx="7591425" cy="619200"/>
            </a:xfrm>
          </p:grpSpPr>
          <p:sp>
            <p:nvSpPr>
              <p:cNvPr id="294" name="Google Shape;294;p24"/>
              <p:cNvSpPr/>
              <p:nvPr/>
            </p:nvSpPr>
            <p:spPr>
              <a:xfrm>
                <a:off x="28575" y="142875"/>
                <a:ext cx="171600" cy="171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4"/>
              <p:cNvSpPr/>
              <p:nvPr/>
            </p:nvSpPr>
            <p:spPr>
              <a:xfrm>
                <a:off x="76200" y="1905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4"/>
              <p:cNvSpPr txBox="1"/>
              <p:nvPr/>
            </p:nvSpPr>
            <p:spPr>
              <a:xfrm>
                <a:off x="381000" y="95250"/>
                <a:ext cx="7239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300">
                    <a:solidFill>
                      <a:srgbClr val="0F4C8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3. Filtraggio delle Coordinate</a:t>
                </a:r>
                <a:endParaRPr b="0" sz="1300">
                  <a:solidFill>
                    <a:srgbClr val="0F4C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Validazione e pulizia delle coordinate ricevute secondo criteri definiti di distanza minima, intervallo temporale e livello di accuratezza.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7" name="Google Shape;297;p24"/>
            <p:cNvGrpSpPr/>
            <p:nvPr/>
          </p:nvGrpSpPr>
          <p:grpSpPr>
            <a:xfrm>
              <a:off x="28575" y="2667000"/>
              <a:ext cx="7591425" cy="619200"/>
              <a:chOff x="28575" y="95250"/>
              <a:chExt cx="7591425" cy="619200"/>
            </a:xfrm>
          </p:grpSpPr>
          <p:sp>
            <p:nvSpPr>
              <p:cNvPr id="298" name="Google Shape;298;p24"/>
              <p:cNvSpPr/>
              <p:nvPr/>
            </p:nvSpPr>
            <p:spPr>
              <a:xfrm>
                <a:off x="28575" y="142875"/>
                <a:ext cx="171600" cy="1716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4"/>
              <p:cNvSpPr/>
              <p:nvPr/>
            </p:nvSpPr>
            <p:spPr>
              <a:xfrm>
                <a:off x="76200" y="1905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4"/>
              <p:cNvSpPr txBox="1"/>
              <p:nvPr/>
            </p:nvSpPr>
            <p:spPr>
              <a:xfrm>
                <a:off x="381000" y="95250"/>
                <a:ext cx="7239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300">
                    <a:solidFill>
                      <a:srgbClr val="0F4C8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4. Salvataggio Coroutine in Room</a:t>
                </a:r>
                <a:endParaRPr b="0" sz="1300">
                  <a:solidFill>
                    <a:srgbClr val="0F4C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Esecuzione delle operazioni di persistenza su database Room tramite Coroutine su un gestore di scope dedicato del servizio, slegato dal ciclo di vita UI.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301" name="Google Shape;301;p24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15700" y="24765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07" name="Google Shape;307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5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Rilevamento Punti di Interesse (POI)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09" name="Google Shape;309;p25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310" name="Google Shape;310;p25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5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25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25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314" name="Google Shape;314;p25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" name="Google Shape;315;p25"/>
          <p:cNvSpPr txBox="1"/>
          <p:nvPr/>
        </p:nvSpPr>
        <p:spPr>
          <a:xfrm>
            <a:off x="381000" y="1143000"/>
            <a:ext cx="38100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Implementazione </a:t>
            </a:r>
            <a:r>
              <a:rPr b="1" lang="it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Custom</a:t>
            </a:r>
            <a:endParaRPr b="1" sz="10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Il rilevamento dei punti di interesse vicini </a:t>
            </a: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non utilizza l'API Android Geofencing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Calcolo Autonomo: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L'applicazione calcola autonomamente la distanza tra le coordinate dell'utente e i POI salvati in Room.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Condizioni di Attivazione: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Il POI è considerato vicino se la distanza è inferiore al raggio configurato e l'accuratezza del GPS è sufficiente.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60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Anti-Duplicazione: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Per evitare notifiche duplicate, viene memorizzato l'identificativo dell'ultimo POI notificato, riattivando l'avviso solo uscendo e rientrando nell'area.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6" name="Google Shape;316;p25" title="Geo-fencing-illustration-1024x76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900" y="1143000"/>
            <a:ext cx="3962399" cy="29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5"/>
          <p:cNvPicPr preferRelativeResize="0"/>
          <p:nvPr/>
        </p:nvPicPr>
        <p:blipFill rotWithShape="1">
          <a:blip r:embed="rId4">
            <a:alphaModFix/>
          </a:blip>
          <a:srcRect b="59537" l="7732" r="85880" t="37576"/>
          <a:stretch/>
        </p:blipFill>
        <p:spPr>
          <a:xfrm>
            <a:off x="7615700" y="23390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763" y="3814763"/>
            <a:ext cx="1362000" cy="7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26"/>
          <p:cNvGrpSpPr/>
          <p:nvPr/>
        </p:nvGrpSpPr>
        <p:grpSpPr>
          <a:xfrm>
            <a:off x="381000" y="247650"/>
            <a:ext cx="8534400" cy="590700"/>
            <a:chOff x="381000" y="247650"/>
            <a:chExt cx="8534400" cy="590700"/>
          </a:xfrm>
        </p:grpSpPr>
        <p:sp>
          <p:nvSpPr>
            <p:cNvPr id="324" name="Google Shape;324;p26"/>
            <p:cNvSpPr txBox="1"/>
            <p:nvPr/>
          </p:nvSpPr>
          <p:spPr>
            <a:xfrm>
              <a:off x="381000" y="26670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Persistenza Locale: Room vs DataStore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25" name="Google Shape;325;p26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326" name="Google Shape;326;p26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6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26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6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330" name="Google Shape;33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819150"/>
              <a:ext cx="8382000" cy="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1" name="Google Shape;331;p26"/>
          <p:cNvGrpSpPr/>
          <p:nvPr/>
        </p:nvGrpSpPr>
        <p:grpSpPr>
          <a:xfrm>
            <a:off x="381000" y="1047750"/>
            <a:ext cx="8382000" cy="3619500"/>
            <a:chOff x="381000" y="0"/>
            <a:chExt cx="8382000" cy="3619500"/>
          </a:xfrm>
        </p:grpSpPr>
        <p:grpSp>
          <p:nvGrpSpPr>
            <p:cNvPr id="332" name="Google Shape;332;p26"/>
            <p:cNvGrpSpPr/>
            <p:nvPr/>
          </p:nvGrpSpPr>
          <p:grpSpPr>
            <a:xfrm>
              <a:off x="381000" y="0"/>
              <a:ext cx="4000500" cy="3619500"/>
              <a:chOff x="0" y="0"/>
              <a:chExt cx="4000500" cy="3619500"/>
            </a:xfrm>
          </p:grpSpPr>
          <p:sp>
            <p:nvSpPr>
              <p:cNvPr id="333" name="Google Shape;333;p26"/>
              <p:cNvSpPr/>
              <p:nvPr/>
            </p:nvSpPr>
            <p:spPr>
              <a:xfrm>
                <a:off x="0" y="0"/>
                <a:ext cx="4000500" cy="3619500"/>
              </a:xfrm>
              <a:prstGeom prst="roundRect">
                <a:avLst>
                  <a:gd fmla="val 3157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6"/>
              <p:cNvSpPr/>
              <p:nvPr/>
            </p:nvSpPr>
            <p:spPr>
              <a:xfrm>
                <a:off x="0" y="0"/>
                <a:ext cx="40005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0" y="88174"/>
                      <a:pt x="361" y="57652"/>
                      <a:pt x="1004" y="35147"/>
                    </a:cubicBezTo>
                    <a:cubicBezTo>
                      <a:pt x="1647" y="12643"/>
                      <a:pt x="2519" y="0"/>
                      <a:pt x="3429" y="0"/>
                    </a:cubicBezTo>
                    <a:lnTo>
                      <a:pt x="116571" y="0"/>
                    </a:lnTo>
                    <a:cubicBezTo>
                      <a:pt x="117480" y="-4"/>
                      <a:pt x="118353" y="12637"/>
                      <a:pt x="118996" y="35142"/>
                    </a:cubicBezTo>
                    <a:cubicBezTo>
                      <a:pt x="119639" y="57647"/>
                      <a:pt x="120000" y="88171"/>
                      <a:pt x="120000" y="120000"/>
                    </a:cubicBezTo>
                    <a:lnTo>
                      <a:pt x="120000" y="80000"/>
                    </a:lnTo>
                    <a:lnTo>
                      <a:pt x="0" y="80000"/>
                    </a:lnTo>
                    <a:close/>
                  </a:path>
                </a:pathLst>
              </a:cu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6"/>
              <p:cNvSpPr txBox="1"/>
              <p:nvPr/>
            </p:nvSpPr>
            <p:spPr>
              <a:xfrm>
                <a:off x="228600" y="228600"/>
                <a:ext cx="3543300" cy="316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8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Room</a:t>
                </a:r>
                <a:endParaRPr b="1" sz="18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00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Database Relazionale Completo</a:t>
                </a:r>
                <a:endParaRPr b="0" sz="10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Gestisce la persistenza strutturata per entità complesse e dati ad alta densità relazionale: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10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Viaggi: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itinerari e informazioni generali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Percorsi GPS: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tracciamento e coordinate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Passi giornalieri: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metriche e attivita fisiche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Città &amp; POI: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punti di interesse e località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Voti: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valutazioni e recensioni utente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6" name="Google Shape;336;p26"/>
            <p:cNvGrpSpPr/>
            <p:nvPr/>
          </p:nvGrpSpPr>
          <p:grpSpPr>
            <a:xfrm>
              <a:off x="4762500" y="0"/>
              <a:ext cx="4000500" cy="3619500"/>
              <a:chOff x="0" y="0"/>
              <a:chExt cx="4000500" cy="3619500"/>
            </a:xfrm>
          </p:grpSpPr>
          <p:sp>
            <p:nvSpPr>
              <p:cNvPr id="337" name="Google Shape;337;p26"/>
              <p:cNvSpPr/>
              <p:nvPr/>
            </p:nvSpPr>
            <p:spPr>
              <a:xfrm>
                <a:off x="0" y="0"/>
                <a:ext cx="4000500" cy="3619500"/>
              </a:xfrm>
              <a:prstGeom prst="roundRect">
                <a:avLst>
                  <a:gd fmla="val 3157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6"/>
              <p:cNvSpPr/>
              <p:nvPr/>
            </p:nvSpPr>
            <p:spPr>
              <a:xfrm>
                <a:off x="0" y="0"/>
                <a:ext cx="40005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0" y="88174"/>
                      <a:pt x="361" y="57652"/>
                      <a:pt x="1004" y="35147"/>
                    </a:cubicBezTo>
                    <a:cubicBezTo>
                      <a:pt x="1647" y="12643"/>
                      <a:pt x="2519" y="0"/>
                      <a:pt x="3429" y="0"/>
                    </a:cubicBezTo>
                    <a:lnTo>
                      <a:pt x="116571" y="0"/>
                    </a:lnTo>
                    <a:cubicBezTo>
                      <a:pt x="117480" y="-4"/>
                      <a:pt x="118353" y="12637"/>
                      <a:pt x="118996" y="35142"/>
                    </a:cubicBezTo>
                    <a:cubicBezTo>
                      <a:pt x="119639" y="57647"/>
                      <a:pt x="120000" y="88171"/>
                      <a:pt x="120000" y="120000"/>
                    </a:cubicBezTo>
                    <a:lnTo>
                      <a:pt x="120000" y="80000"/>
                    </a:lnTo>
                    <a:lnTo>
                      <a:pt x="0" y="8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6"/>
              <p:cNvSpPr txBox="1"/>
              <p:nvPr/>
            </p:nvSpPr>
            <p:spPr>
              <a:xfrm>
                <a:off x="228600" y="228600"/>
                <a:ext cx="35433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800">
                    <a:solidFill>
                      <a:srgbClr val="2563E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Jetpack DataStore</a:t>
                </a:r>
                <a:endParaRPr b="1" sz="1800">
                  <a:solidFill>
                    <a:srgbClr val="2563E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00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Chiave-Valore Leggero</a:t>
                </a:r>
                <a:endParaRPr b="0" sz="10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Impiegato per la memorizzazione di preferenze utente semplici e persistenti: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10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Tema dell'app: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preferenze d'interfaccia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Modalità anonima: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impostazioni di privacy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Visibilità percorsi: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stato di condivisione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Stato onboarding: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completamento guida iniziale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340" name="Google Shape;340;p26"/>
              <p:cNvGrpSpPr/>
              <p:nvPr/>
            </p:nvGrpSpPr>
            <p:grpSpPr>
              <a:xfrm>
                <a:off x="190500" y="2714625"/>
                <a:ext cx="3619500" cy="714300"/>
                <a:chOff x="0" y="0"/>
                <a:chExt cx="3619500" cy="714300"/>
              </a:xfrm>
            </p:grpSpPr>
            <p:sp>
              <p:nvSpPr>
                <p:cNvPr id="341" name="Google Shape;341;p26"/>
                <p:cNvSpPr/>
                <p:nvPr/>
              </p:nvSpPr>
              <p:spPr>
                <a:xfrm>
                  <a:off x="0" y="0"/>
                  <a:ext cx="3619500" cy="714300"/>
                </a:xfrm>
                <a:prstGeom prst="roundRect">
                  <a:avLst>
                    <a:gd fmla="val 10666" name="adj"/>
                  </a:avLst>
                </a:prstGeom>
                <a:solidFill>
                  <a:srgbClr val="DBEAFE"/>
                </a:solidFill>
                <a:ln cap="flat" cmpd="sng" w="9525">
                  <a:solidFill>
                    <a:srgbClr val="BFDBF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" name="Google Shape;342;p26"/>
                <p:cNvSpPr txBox="1"/>
                <p:nvPr/>
              </p:nvSpPr>
              <p:spPr>
                <a:xfrm>
                  <a:off x="152400" y="114300"/>
                  <a:ext cx="33147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it" sz="925">
                      <a:solidFill>
                        <a:srgbClr val="2563E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Integrazione Firebase:</a:t>
                  </a:r>
                  <a:br>
                    <a:rPr b="0" lang="it" sz="925">
                      <a:solidFill>
                        <a:srgbClr val="0F4C81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</a:br>
                  <a:r>
                    <a:rPr b="0" lang="it" sz="925">
                      <a:solidFill>
                        <a:srgbClr val="0F4C81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Le preferenze sono associate all'identificativo Firebase per supportare il cambio account in modo trasparente.</a:t>
                  </a:r>
                  <a:endParaRPr b="0" sz="925">
                    <a:solidFill>
                      <a:srgbClr val="0F4C81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</p:grpSp>
      </p:grpSp>
      <p:pic>
        <p:nvPicPr>
          <p:cNvPr id="343" name="Google Shape;343;p26"/>
          <p:cNvPicPr preferRelativeResize="0"/>
          <p:nvPr/>
        </p:nvPicPr>
        <p:blipFill rotWithShape="1">
          <a:blip r:embed="rId5">
            <a:alphaModFix/>
          </a:blip>
          <a:srcRect b="59537" l="7732" r="85880" t="37576"/>
          <a:stretch/>
        </p:blipFill>
        <p:spPr>
          <a:xfrm>
            <a:off x="7615675" y="209475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49" name="Google Shape;349;p2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FirebaseAuthRepository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51" name="Google Shape;351;p27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352" name="Google Shape;352;p27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7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7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7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356" name="Google Shape;356;p27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27"/>
          <p:cNvSpPr txBox="1"/>
          <p:nvPr/>
        </p:nvSpPr>
        <p:spPr>
          <a:xfrm>
            <a:off x="381000" y="1095375"/>
            <a:ext cx="83820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FirebaseAuthRepository</a:t>
            </a:r>
            <a:r>
              <a:rPr b="0" lang="it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gestisce l'identità dell'utente nascondendo i dettagli dell'SDK Firebase alla UI.</a:t>
            </a:r>
            <a:endParaRPr b="0" sz="13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Autenticazione Flessibile: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Supporta la registrazione e il login tramite e-mail/password e Google Sign-In.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Integrazione Coroutine: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Converte le operazioni asincrone di Firebase in funzioni suspend per le coroutine.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90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Gestione Errori: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Traduce gli errori del provider in errori del dominio applicativo.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58" name="Google Shape;358;p27"/>
          <p:cNvGrpSpPr/>
          <p:nvPr/>
        </p:nvGrpSpPr>
        <p:grpSpPr>
          <a:xfrm>
            <a:off x="381000" y="3429000"/>
            <a:ext cx="8382000" cy="1238400"/>
            <a:chOff x="0" y="0"/>
            <a:chExt cx="8382000" cy="1238400"/>
          </a:xfrm>
        </p:grpSpPr>
        <p:sp>
          <p:nvSpPr>
            <p:cNvPr id="359" name="Google Shape;359;p27"/>
            <p:cNvSpPr/>
            <p:nvPr/>
          </p:nvSpPr>
          <p:spPr>
            <a:xfrm>
              <a:off x="0" y="0"/>
              <a:ext cx="83820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0" y="0"/>
              <a:ext cx="76200" cy="1238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 txBox="1"/>
            <p:nvPr/>
          </p:nvSpPr>
          <p:spPr>
            <a:xfrm>
              <a:off x="285750" y="190500"/>
              <a:ext cx="7810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Gestione dello Stato Reattivo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it" sz="1300">
                  <a:solidFill>
                    <a:srgbClr val="0F4C81"/>
                  </a:solidFill>
                  <a:latin typeface="Inter"/>
                  <a:ea typeface="Inter"/>
                  <a:cs typeface="Inter"/>
                  <a:sym typeface="Inter"/>
                </a:rPr>
                <a:t>"Lo stato della sessione viene esposto reattivamente tramite callbackFlow, permettendo alla MainActivity di modificare automaticamente la navigazione."</a:t>
              </a:r>
              <a:endParaRPr b="0" i="1" sz="1300">
                <a:solidFill>
                  <a:srgbClr val="0F4C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62" name="Google Shape;362;p27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23850" y="217625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4763" y="3624263"/>
            <a:ext cx="981000" cy="9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8"/>
          <p:cNvSpPr txBox="1"/>
          <p:nvPr/>
        </p:nvSpPr>
        <p:spPr>
          <a:xfrm>
            <a:off x="381000" y="238125"/>
            <a:ext cx="7048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GhostFactory &amp; Simulazione Social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70" name="Google Shape;370;p28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371" name="Google Shape;371;p28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8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375" name="Google Shape;37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57250"/>
            <a:ext cx="83820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8"/>
          <p:cNvSpPr txBox="1"/>
          <p:nvPr/>
        </p:nvSpPr>
        <p:spPr>
          <a:xfrm>
            <a:off x="381000" y="1095375"/>
            <a:ext cx="39054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5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Simulazione Locale dei Dati</a:t>
            </a:r>
            <a:endParaRPr b="0" sz="1500">
              <a:solidFill>
                <a:srgbClr val="2563E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 versione finale non possiede un backend remoto per la sincronizzazione dei viaggi tra utenti reali. La componente social è simulata localmente tramite una </a:t>
            </a:r>
            <a:r>
              <a:rPr b="1" lang="it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GhostFactory</a:t>
            </a:r>
            <a:r>
              <a:rPr b="0" lang="it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5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Proprietà dei Ghost</a:t>
            </a:r>
            <a:endParaRPr b="0" sz="1500">
              <a:solidFill>
                <a:srgbClr val="2563E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 ghost possiedono identificativi, percorsi, visite ai POI e voti generati internamente.</a:t>
            </a:r>
            <a:endParaRPr b="0"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5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Vantaggi dell'Architettura</a:t>
            </a:r>
            <a:endParaRPr b="0" sz="1500">
              <a:solidFill>
                <a:srgbClr val="2563E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Questa scelta architetturale permette di dimostrare le funzionalità di interazione, filtraggio e visualizzazione sulla mappa, riducendo la complessità e mantenendo la logica pronta per una futura integrazione server.</a:t>
            </a:r>
            <a:endParaRPr b="0"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factory è statica, con percorsi effettuati generati da intelligenza artificiale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7" name="Google Shape;377;p28" title="image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343450"/>
            <a:ext cx="4186675" cy="296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8"/>
          <p:cNvPicPr preferRelativeResize="0"/>
          <p:nvPr/>
        </p:nvPicPr>
        <p:blipFill rotWithShape="1">
          <a:blip r:embed="rId6">
            <a:alphaModFix/>
          </a:blip>
          <a:srcRect b="59537" l="7732" r="85880" t="37576"/>
          <a:stretch/>
        </p:blipFill>
        <p:spPr>
          <a:xfrm>
            <a:off x="762477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763" y="385763"/>
            <a:ext cx="1362000" cy="9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4" name="Google Shape;384;p29"/>
          <p:cNvGrpSpPr/>
          <p:nvPr/>
        </p:nvGrpSpPr>
        <p:grpSpPr>
          <a:xfrm>
            <a:off x="381000" y="247650"/>
            <a:ext cx="8534400" cy="581175"/>
            <a:chOff x="381000" y="247650"/>
            <a:chExt cx="8534400" cy="581175"/>
          </a:xfrm>
        </p:grpSpPr>
        <p:sp>
          <p:nvSpPr>
            <p:cNvPr id="385" name="Google Shape;385;p29"/>
            <p:cNvSpPr txBox="1"/>
            <p:nvPr/>
          </p:nvSpPr>
          <p:spPr>
            <a:xfrm>
              <a:off x="381000" y="26670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MapViewModel &amp; Gestione dello Stato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86" name="Google Shape;386;p29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387" name="Google Shape;387;p29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9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9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9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391" name="Google Shape;391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809625"/>
              <a:ext cx="8382000" cy="19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2" name="Google Shape;392;p29"/>
          <p:cNvSpPr txBox="1"/>
          <p:nvPr/>
        </p:nvSpPr>
        <p:spPr>
          <a:xfrm>
            <a:off x="381000" y="9715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Il codice più significativo risiede nel </a:t>
            </a: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MapViewModel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dove l'operatore </a:t>
            </a: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combine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di Kotlin unisce molteplici Flow.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93" name="Google Shape;393;p29"/>
          <p:cNvGrpSpPr/>
          <p:nvPr/>
        </p:nvGrpSpPr>
        <p:grpSpPr>
          <a:xfrm>
            <a:off x="381000" y="1428750"/>
            <a:ext cx="8382000" cy="3333900"/>
            <a:chOff x="0" y="0"/>
            <a:chExt cx="8382000" cy="3333900"/>
          </a:xfrm>
        </p:grpSpPr>
        <p:sp>
          <p:nvSpPr>
            <p:cNvPr id="394" name="Google Shape;394;p29"/>
            <p:cNvSpPr/>
            <p:nvPr/>
          </p:nvSpPr>
          <p:spPr>
            <a:xfrm>
              <a:off x="0" y="0"/>
              <a:ext cx="83820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0" y="0"/>
              <a:ext cx="8382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9"/>
            <p:cNvSpPr txBox="1"/>
            <p:nvPr/>
          </p:nvSpPr>
          <p:spPr>
            <a:xfrm>
              <a:off x="266700" y="209550"/>
              <a:ext cx="7848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8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ARCHITETTURA REATTIVA • PATTERN COMBINE</a:t>
              </a:r>
              <a:endParaRPr b="1" sz="8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b="0" lang="it" sz="93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Il ViewModel sincronizza la posizione corrente, i percorsi tracciati, i punti di interesse dal database, i ghost simulati e i passi del sensore.</a:t>
              </a:r>
              <a:endParaRPr b="0" sz="93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97" name="Google Shape;397;p29"/>
            <p:cNvGrpSpPr/>
            <p:nvPr/>
          </p:nvGrpSpPr>
          <p:grpSpPr>
            <a:xfrm>
              <a:off x="266700" y="762000"/>
              <a:ext cx="2381400" cy="1619400"/>
              <a:chOff x="0" y="0"/>
              <a:chExt cx="2381400" cy="1619400"/>
            </a:xfrm>
          </p:grpSpPr>
          <p:sp>
            <p:nvSpPr>
              <p:cNvPr id="398" name="Google Shape;398;p29"/>
              <p:cNvSpPr/>
              <p:nvPr/>
            </p:nvSpPr>
            <p:spPr>
              <a:xfrm>
                <a:off x="0" y="0"/>
                <a:ext cx="2381400" cy="1619400"/>
              </a:xfrm>
              <a:prstGeom prst="roundRect">
                <a:avLst>
                  <a:gd fmla="val 4705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9"/>
              <p:cNvSpPr/>
              <p:nvPr/>
            </p:nvSpPr>
            <p:spPr>
              <a:xfrm>
                <a:off x="0" y="0"/>
                <a:ext cx="23814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9"/>
              <p:cNvSpPr txBox="1"/>
              <p:nvPr/>
            </p:nvSpPr>
            <p:spPr>
              <a:xfrm>
                <a:off x="152400" y="133350"/>
                <a:ext cx="2076600" cy="1352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000" u="none" strike="noStrike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 Flow in Ingresso</a:t>
                </a:r>
                <a:endParaRPr b="0" i="0" sz="10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-2921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1000"/>
                  <a:buFont typeface="Inter"/>
                  <a:buChar char="●"/>
                </a:pPr>
                <a:r>
                  <a:rPr b="0" i="0" lang="it" sz="100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Posizione corrente</a:t>
                </a:r>
                <a:endParaRPr b="0" i="0" sz="10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300"/>
                  </a:spcBef>
                  <a:spcAft>
                    <a:spcPts val="0"/>
                  </a:spcAft>
                  <a:buClr>
                    <a:srgbClr val="64748B"/>
                  </a:buClr>
                  <a:buSzPts val="1000"/>
                  <a:buFont typeface="Inter"/>
                  <a:buChar char="●"/>
                </a:pPr>
                <a:r>
                  <a:rPr b="0" i="0" lang="it" sz="100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Percorsi tracciati</a:t>
                </a:r>
                <a:endParaRPr b="0" i="0" sz="10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300"/>
                  </a:spcBef>
                  <a:spcAft>
                    <a:spcPts val="0"/>
                  </a:spcAft>
                  <a:buClr>
                    <a:srgbClr val="64748B"/>
                  </a:buClr>
                  <a:buSzPts val="1000"/>
                  <a:buFont typeface="Inter"/>
                  <a:buChar char="●"/>
                </a:pPr>
                <a:r>
                  <a:rPr b="0" i="0" lang="it" sz="100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Punti di interesse (DB)</a:t>
                </a:r>
                <a:endParaRPr b="0" i="0" sz="10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300"/>
                  </a:spcBef>
                  <a:spcAft>
                    <a:spcPts val="0"/>
                  </a:spcAft>
                  <a:buClr>
                    <a:srgbClr val="64748B"/>
                  </a:buClr>
                  <a:buSzPts val="1000"/>
                  <a:buFont typeface="Inter"/>
                  <a:buChar char="●"/>
                </a:pPr>
                <a:r>
                  <a:rPr b="0" i="0" lang="it" sz="100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Ghost simulati</a:t>
                </a:r>
                <a:endParaRPr b="0" i="0" sz="10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300"/>
                  </a:spcBef>
                  <a:spcAft>
                    <a:spcPts val="300"/>
                  </a:spcAft>
                  <a:buClr>
                    <a:srgbClr val="64748B"/>
                  </a:buClr>
                  <a:buSzPts val="1000"/>
                  <a:buFont typeface="Inter"/>
                  <a:buChar char="●"/>
                </a:pPr>
                <a:r>
                  <a:rPr b="0" i="0" lang="it" sz="100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Passi del sensore</a:t>
                </a:r>
                <a:endParaRPr b="0" i="0" sz="10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401" name="Google Shape;401;p29"/>
            <p:cNvSpPr/>
            <p:nvPr/>
          </p:nvSpPr>
          <p:spPr>
            <a:xfrm>
              <a:off x="2781300" y="1514475"/>
              <a:ext cx="2667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4286" y="0"/>
                  </a:moveTo>
                  <a:lnTo>
                    <a:pt x="120000" y="60000"/>
                  </a:lnTo>
                  <a:lnTo>
                    <a:pt x="94286" y="120000"/>
                  </a:lnTo>
                </a:path>
              </a:pathLst>
            </a:custGeom>
            <a:solidFill>
              <a:srgbClr val="000000"/>
            </a:solidFill>
            <a:ln cap="rnd" cmpd="sng" w="238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2" name="Google Shape;402;p29"/>
            <p:cNvGrpSpPr/>
            <p:nvPr/>
          </p:nvGrpSpPr>
          <p:grpSpPr>
            <a:xfrm>
              <a:off x="3162300" y="762000"/>
              <a:ext cx="1905000" cy="1619400"/>
              <a:chOff x="0" y="0"/>
              <a:chExt cx="1905000" cy="1619400"/>
            </a:xfrm>
          </p:grpSpPr>
          <p:sp>
            <p:nvSpPr>
              <p:cNvPr id="403" name="Google Shape;403;p29"/>
              <p:cNvSpPr/>
              <p:nvPr/>
            </p:nvSpPr>
            <p:spPr>
              <a:xfrm>
                <a:off x="0" y="0"/>
                <a:ext cx="1905000" cy="1619400"/>
              </a:xfrm>
              <a:prstGeom prst="roundRect">
                <a:avLst>
                  <a:gd fmla="val 4705" name="adj"/>
                </a:avLst>
              </a:prstGeom>
              <a:solidFill>
                <a:srgbClr val="DBEAFE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9"/>
              <p:cNvSpPr txBox="1"/>
              <p:nvPr/>
            </p:nvSpPr>
            <p:spPr>
              <a:xfrm>
                <a:off x="152400" y="152400"/>
                <a:ext cx="1600200" cy="1314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it" sz="1000" u="none" strike="noStrike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KOTLIN FLOW</a:t>
                </a:r>
                <a:endParaRPr b="1" i="0" sz="1000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it" sz="1600" u="none" strike="noStrike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combine</a:t>
                </a:r>
                <a:endParaRPr b="1" i="0" sz="1000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i="0" lang="it" sz="95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Unificazione e sincronizzazione degli stream in tempo reale</a:t>
                </a:r>
                <a:endParaRPr b="1" i="0" sz="950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405" name="Google Shape;405;p29"/>
            <p:cNvSpPr/>
            <p:nvPr/>
          </p:nvSpPr>
          <p:spPr>
            <a:xfrm>
              <a:off x="5200650" y="1514475"/>
              <a:ext cx="2667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4286" y="0"/>
                  </a:moveTo>
                  <a:lnTo>
                    <a:pt x="120000" y="60000"/>
                  </a:lnTo>
                  <a:lnTo>
                    <a:pt x="94286" y="120000"/>
                  </a:lnTo>
                </a:path>
              </a:pathLst>
            </a:custGeom>
            <a:solidFill>
              <a:srgbClr val="000000"/>
            </a:solidFill>
            <a:ln cap="rnd" cmpd="sng" w="238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6" name="Google Shape;406;p29"/>
            <p:cNvGrpSpPr/>
            <p:nvPr/>
          </p:nvGrpSpPr>
          <p:grpSpPr>
            <a:xfrm>
              <a:off x="5581650" y="762000"/>
              <a:ext cx="2533800" cy="1619400"/>
              <a:chOff x="0" y="0"/>
              <a:chExt cx="2533800" cy="1619400"/>
            </a:xfrm>
          </p:grpSpPr>
          <p:sp>
            <p:nvSpPr>
              <p:cNvPr id="407" name="Google Shape;407;p29"/>
              <p:cNvSpPr/>
              <p:nvPr/>
            </p:nvSpPr>
            <p:spPr>
              <a:xfrm>
                <a:off x="0" y="0"/>
                <a:ext cx="2533800" cy="1619400"/>
              </a:xfrm>
              <a:prstGeom prst="roundRect">
                <a:avLst>
                  <a:gd fmla="val 4705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9"/>
              <p:cNvSpPr txBox="1"/>
              <p:nvPr/>
            </p:nvSpPr>
            <p:spPr>
              <a:xfrm>
                <a:off x="171450" y="152400"/>
                <a:ext cx="2190900" cy="1314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000" u="none" strike="noStrike">
                    <a:solidFill>
                      <a:srgbClr val="DBEAFE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STATO UNICO EMESSO</a:t>
                </a:r>
                <a:endParaRPr b="0" i="0" sz="1000" u="none" strike="noStrike">
                  <a:solidFill>
                    <a:srgbClr val="DBEAFE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it" sz="1400" u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MapUiState</a:t>
                </a:r>
                <a:endParaRPr b="0" i="0" sz="1000" u="none" strike="noStrike">
                  <a:solidFill>
                    <a:srgbClr val="DBEAFE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450"/>
                  </a:spcAft>
                  <a:buNone/>
                </a:pPr>
                <a:r>
                  <a:rPr b="0" i="0" lang="it" sz="950" u="none" strike="noStrike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Stato </a:t>
                </a:r>
                <a:r>
                  <a:rPr lang="it" sz="9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non mutabile </a:t>
                </a:r>
                <a:r>
                  <a:rPr b="0" i="0" lang="it" sz="950" u="none" strike="noStrike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contenente tutti i dati della mappa pronti per la UI.</a:t>
                </a:r>
                <a:endParaRPr b="0" i="0" sz="950" u="none" strike="noStrike">
                  <a:solidFill>
                    <a:srgbClr val="DBEAFE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409" name="Google Shape;409;p29"/>
            <p:cNvSpPr/>
            <p:nvPr/>
          </p:nvSpPr>
          <p:spPr>
            <a:xfrm>
              <a:off x="266700" y="2505075"/>
              <a:ext cx="7848600" cy="762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9"/>
            <p:cNvSpPr txBox="1"/>
            <p:nvPr/>
          </p:nvSpPr>
          <p:spPr>
            <a:xfrm>
              <a:off x="419100" y="2600325"/>
              <a:ext cx="7543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1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Questa combinazione genera un singolo </a:t>
              </a:r>
              <a:r>
                <a:rPr b="1" i="0" lang="it" sz="11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MapUiState </a:t>
              </a:r>
              <a:r>
                <a:rPr b="1" lang="it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non mutable</a:t>
              </a:r>
              <a:r>
                <a:rPr b="0" i="0" lang="it" sz="11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. La schermata osserva esclusivamente questo stato, garantendo un </a:t>
              </a:r>
              <a:r>
                <a:rPr b="1" i="0" lang="it" sz="11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aggiornamento fluido e reattivo</a:t>
              </a:r>
              <a:r>
                <a:rPr b="0" i="0" lang="it" sz="11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della mappa a ogni variazione dei dati sottostanti.</a:t>
              </a:r>
              <a:endParaRPr b="0" i="0" sz="1100" u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11" name="Google Shape;411;p29"/>
          <p:cNvPicPr preferRelativeResize="0"/>
          <p:nvPr/>
        </p:nvPicPr>
        <p:blipFill rotWithShape="1">
          <a:blip r:embed="rId5">
            <a:alphaModFix/>
          </a:blip>
          <a:srcRect b="59537" l="7732" r="85880" t="37576"/>
          <a:stretch/>
        </p:blipFill>
        <p:spPr>
          <a:xfrm>
            <a:off x="7623850" y="24765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763" y="3624263"/>
            <a:ext cx="1362000" cy="9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7" name="Google Shape;417;p30"/>
          <p:cNvGrpSpPr/>
          <p:nvPr/>
        </p:nvGrpSpPr>
        <p:grpSpPr>
          <a:xfrm>
            <a:off x="381000" y="247650"/>
            <a:ext cx="8534400" cy="609750"/>
            <a:chOff x="381000" y="247650"/>
            <a:chExt cx="8534400" cy="609750"/>
          </a:xfrm>
        </p:grpSpPr>
        <p:sp>
          <p:nvSpPr>
            <p:cNvPr id="418" name="Google Shape;418;p30"/>
            <p:cNvSpPr txBox="1"/>
            <p:nvPr/>
          </p:nvSpPr>
          <p:spPr>
            <a:xfrm>
              <a:off x="381000" y="26670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Strategia di Validazione e Testing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19" name="Google Shape;419;p30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420" name="Google Shape;420;p30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30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424" name="Google Shape;424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838200"/>
              <a:ext cx="8382000" cy="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" name="Google Shape;425;p30"/>
          <p:cNvGrpSpPr/>
          <p:nvPr/>
        </p:nvGrpSpPr>
        <p:grpSpPr>
          <a:xfrm>
            <a:off x="389150" y="1190625"/>
            <a:ext cx="8372550" cy="3476700"/>
            <a:chOff x="381000" y="1190625"/>
            <a:chExt cx="8372550" cy="3476700"/>
          </a:xfrm>
        </p:grpSpPr>
        <p:grpSp>
          <p:nvGrpSpPr>
            <p:cNvPr id="426" name="Google Shape;426;p30"/>
            <p:cNvGrpSpPr/>
            <p:nvPr/>
          </p:nvGrpSpPr>
          <p:grpSpPr>
            <a:xfrm>
              <a:off x="381000" y="1190625"/>
              <a:ext cx="2600400" cy="3476700"/>
              <a:chOff x="381000" y="1190625"/>
              <a:chExt cx="2600400" cy="3476700"/>
            </a:xfrm>
          </p:grpSpPr>
          <p:sp>
            <p:nvSpPr>
              <p:cNvPr id="427" name="Google Shape;427;p30"/>
              <p:cNvSpPr/>
              <p:nvPr/>
            </p:nvSpPr>
            <p:spPr>
              <a:xfrm>
                <a:off x="381000" y="1190625"/>
                <a:ext cx="2600400" cy="3476700"/>
              </a:xfrm>
              <a:prstGeom prst="roundRect">
                <a:avLst>
                  <a:gd fmla="val 439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30"/>
              <p:cNvSpPr/>
              <p:nvPr/>
            </p:nvSpPr>
            <p:spPr>
              <a:xfrm>
                <a:off x="381000" y="1190625"/>
                <a:ext cx="26004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30"/>
              <p:cNvSpPr txBox="1"/>
              <p:nvPr/>
            </p:nvSpPr>
            <p:spPr>
              <a:xfrm>
                <a:off x="533400" y="1381125"/>
                <a:ext cx="2295600" cy="3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LOGICA DI DOMINIO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it" sz="15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JUnit &amp; Mockito</a:t>
                </a:r>
                <a:endParaRPr b="1" sz="15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Isolamento completo della business logic mediante test unitari dedicati: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Calcolo distanza: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algoritmo verificato per evitare il doppio conteggio tra GPS e pedometro.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60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Segmentazione: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corretta gestione del percorso in caso di interruzione del segnale.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30" name="Google Shape;430;p30"/>
            <p:cNvGrpSpPr/>
            <p:nvPr/>
          </p:nvGrpSpPr>
          <p:grpSpPr>
            <a:xfrm>
              <a:off x="3267075" y="1190625"/>
              <a:ext cx="2600400" cy="3476700"/>
              <a:chOff x="3267075" y="1190625"/>
              <a:chExt cx="2600400" cy="3476700"/>
            </a:xfrm>
          </p:grpSpPr>
          <p:sp>
            <p:nvSpPr>
              <p:cNvPr id="431" name="Google Shape;431;p30"/>
              <p:cNvSpPr/>
              <p:nvPr/>
            </p:nvSpPr>
            <p:spPr>
              <a:xfrm>
                <a:off x="3267075" y="1190625"/>
                <a:ext cx="2600400" cy="3476700"/>
              </a:xfrm>
              <a:prstGeom prst="roundRect">
                <a:avLst>
                  <a:gd fmla="val 439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30"/>
              <p:cNvSpPr/>
              <p:nvPr/>
            </p:nvSpPr>
            <p:spPr>
              <a:xfrm>
                <a:off x="3267075" y="1190625"/>
                <a:ext cx="26004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30"/>
              <p:cNvSpPr txBox="1"/>
              <p:nvPr/>
            </p:nvSpPr>
            <p:spPr>
              <a:xfrm>
                <a:off x="3419475" y="1381125"/>
                <a:ext cx="2295600" cy="3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FLUSSI ASINCRONI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it" sz="1500">
                    <a:solidFill>
                      <a:srgbClr val="2563E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Coroutine Testing</a:t>
                </a:r>
                <a:endParaRPr b="1" sz="1500">
                  <a:solidFill>
                    <a:srgbClr val="2563E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Strumenti dedicati per la gestione e la sincronizzazione del codice asincrono: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Esecuzione controllata: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test deterministici sulle coroutine dello stato di tracciamento.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60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Gestione thread: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isolamento delle operazioni I/O dai Dispatcher di background.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34" name="Google Shape;434;p30"/>
            <p:cNvGrpSpPr/>
            <p:nvPr/>
          </p:nvGrpSpPr>
          <p:grpSpPr>
            <a:xfrm>
              <a:off x="6153150" y="1190625"/>
              <a:ext cx="2600400" cy="3476700"/>
              <a:chOff x="6153150" y="1190625"/>
              <a:chExt cx="2600400" cy="3476700"/>
            </a:xfrm>
          </p:grpSpPr>
          <p:sp>
            <p:nvSpPr>
              <p:cNvPr id="435" name="Google Shape;435;p30"/>
              <p:cNvSpPr/>
              <p:nvPr/>
            </p:nvSpPr>
            <p:spPr>
              <a:xfrm>
                <a:off x="6153150" y="1190625"/>
                <a:ext cx="2600400" cy="3476700"/>
              </a:xfrm>
              <a:prstGeom prst="roundRect">
                <a:avLst>
                  <a:gd fmla="val 439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30"/>
              <p:cNvSpPr/>
              <p:nvPr/>
            </p:nvSpPr>
            <p:spPr>
              <a:xfrm>
                <a:off x="6153150" y="1190625"/>
                <a:ext cx="26004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30"/>
              <p:cNvSpPr txBox="1"/>
              <p:nvPr/>
            </p:nvSpPr>
            <p:spPr>
              <a:xfrm>
                <a:off x="6305550" y="1381125"/>
                <a:ext cx="2295600" cy="3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PERSISTENZA LOCAL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it" sz="15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In-Memory Room DB</a:t>
                </a:r>
                <a:endParaRPr b="1" sz="15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Test strumentali eseguiti in memoria temporanea RAM: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Validazione DAO: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verifica diretta di query, inserimenti e transazioni del database.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60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Sicurezza dati: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esecuzione rapida senza alterare mai i dati persistenti reali.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438" name="Google Shape;438;p30"/>
          <p:cNvPicPr preferRelativeResize="0"/>
          <p:nvPr/>
        </p:nvPicPr>
        <p:blipFill rotWithShape="1">
          <a:blip r:embed="rId5">
            <a:alphaModFix/>
          </a:blip>
          <a:srcRect b="59537" l="7732" r="85880" t="37576"/>
          <a:stretch/>
        </p:blipFill>
        <p:spPr>
          <a:xfrm>
            <a:off x="7623850" y="24765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31"/>
          <p:cNvGrpSpPr/>
          <p:nvPr/>
        </p:nvGrpSpPr>
        <p:grpSpPr>
          <a:xfrm>
            <a:off x="385763" y="385763"/>
            <a:ext cx="8220000" cy="4219500"/>
            <a:chOff x="385763" y="385763"/>
            <a:chExt cx="8220000" cy="4219500"/>
          </a:xfrm>
        </p:grpSpPr>
        <p:pic>
          <p:nvPicPr>
            <p:cNvPr id="444" name="Google Shape;444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43763" y="385763"/>
              <a:ext cx="1362000" cy="9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5763" y="4005263"/>
              <a:ext cx="1743000" cy="60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p31"/>
          <p:cNvSpPr txBox="1"/>
          <p:nvPr/>
        </p:nvSpPr>
        <p:spPr>
          <a:xfrm>
            <a:off x="381000" y="266700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Limiti Attuali e Sviluppi Futuri</a:t>
            </a:r>
            <a:endParaRPr b="1" sz="22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47" name="Google Shape;447;p31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448" name="Google Shape;448;p31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1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452" name="Google Shape;45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31"/>
          <p:cNvGrpSpPr/>
          <p:nvPr/>
        </p:nvGrpSpPr>
        <p:grpSpPr>
          <a:xfrm>
            <a:off x="381000" y="1047750"/>
            <a:ext cx="4048200" cy="3714900"/>
            <a:chOff x="0" y="0"/>
            <a:chExt cx="4048200" cy="3714900"/>
          </a:xfrm>
        </p:grpSpPr>
        <p:sp>
          <p:nvSpPr>
            <p:cNvPr id="454" name="Google Shape;454;p31"/>
            <p:cNvSpPr/>
            <p:nvPr/>
          </p:nvSpPr>
          <p:spPr>
            <a:xfrm>
              <a:off x="0" y="0"/>
              <a:ext cx="40482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0" y="0"/>
              <a:ext cx="4048200" cy="573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1"/>
            <p:cNvSpPr txBox="1"/>
            <p:nvPr/>
          </p:nvSpPr>
          <p:spPr>
            <a:xfrm>
              <a:off x="228600" y="190500"/>
              <a:ext cx="3591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ARCHITETTURA LOCALE</a:t>
              </a:r>
              <a:endParaRPr b="1" sz="90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500">
                  <a:solidFill>
                    <a:srgbClr val="0F4C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Limiti Attuali</a:t>
              </a:r>
              <a:endParaRPr b="0" sz="1500">
                <a:solidFill>
                  <a:srgbClr val="0F4C8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it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L'applicazione presenta limiti deliberati coerenti con gli obiettivi del corso.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Assenza di Sincronizzazione Remota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Manca una sincronizzazione remota dei dati applicativi.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Assenza di Moderazione POI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Manca una moderazione server-side dei POI.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Dati Community Locali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 dati della community sono completamente predisposti in locale.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7" name="Google Shape;457;p31"/>
          <p:cNvGrpSpPr/>
          <p:nvPr/>
        </p:nvGrpSpPr>
        <p:grpSpPr>
          <a:xfrm>
            <a:off x="4714875" y="1047750"/>
            <a:ext cx="4048200" cy="3714900"/>
            <a:chOff x="0" y="0"/>
            <a:chExt cx="4048200" cy="3714900"/>
          </a:xfrm>
        </p:grpSpPr>
        <p:sp>
          <p:nvSpPr>
            <p:cNvPr id="458" name="Google Shape;458;p31"/>
            <p:cNvSpPr/>
            <p:nvPr/>
          </p:nvSpPr>
          <p:spPr>
            <a:xfrm>
              <a:off x="0" y="0"/>
              <a:ext cx="40482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1"/>
            <p:cNvSpPr/>
            <p:nvPr/>
          </p:nvSpPr>
          <p:spPr>
            <a:xfrm>
              <a:off x="0" y="0"/>
              <a:ext cx="40482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1"/>
            <p:cNvSpPr txBox="1"/>
            <p:nvPr/>
          </p:nvSpPr>
          <p:spPr>
            <a:xfrm>
              <a:off x="228600" y="190500"/>
              <a:ext cx="3591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BACKEND CLOUD &amp; REAL-TIME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5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Sviluppi Futuri</a:t>
              </a:r>
              <a:endParaRPr b="0" sz="15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it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Evoluzioni architetturali e funzionali previste per le prossime release.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Backend Remoto</a:t>
              </a:r>
              <a:endParaRPr b="0" sz="11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Integrazione di un backend remoto per sostituire i ghost con utenti reali.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Chat Privata e di Gruppo</a:t>
              </a:r>
              <a:endParaRPr b="0" sz="11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Aggiunta di un sistema di messaggistica privata o di gruppo.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Live Sharing Percorsi</a:t>
              </a:r>
              <a:endParaRPr b="0" sz="11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Condivisione in tempo reale dei percorsi tra utenti.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61" name="Google Shape;461;p31"/>
          <p:cNvPicPr preferRelativeResize="0"/>
          <p:nvPr/>
        </p:nvPicPr>
        <p:blipFill rotWithShape="1">
          <a:blip r:embed="rId6">
            <a:alphaModFix/>
          </a:blip>
          <a:srcRect b="59537" l="7732" r="85880" t="37576"/>
          <a:stretch/>
        </p:blipFill>
        <p:spPr>
          <a:xfrm>
            <a:off x="7639050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2"/>
          <p:cNvSpPr txBox="1"/>
          <p:nvPr/>
        </p:nvSpPr>
        <p:spPr>
          <a:xfrm>
            <a:off x="381000" y="285750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2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Architettura e Stack Tecnologico</a:t>
            </a:r>
            <a:endParaRPr b="1" sz="222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68" name="Google Shape;468;p32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469" name="Google Shape;469;p32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2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2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2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73" name="Google Shape;473;p32"/>
          <p:cNvSpPr/>
          <p:nvPr/>
        </p:nvSpPr>
        <p:spPr>
          <a:xfrm>
            <a:off x="381000" y="857250"/>
            <a:ext cx="8382000" cy="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4" name="Google Shape;474;p32"/>
          <p:cNvGrpSpPr/>
          <p:nvPr/>
        </p:nvGrpSpPr>
        <p:grpSpPr>
          <a:xfrm>
            <a:off x="381000" y="1143000"/>
            <a:ext cx="8382000" cy="3619500"/>
            <a:chOff x="0" y="0"/>
            <a:chExt cx="8382000" cy="3619500"/>
          </a:xfrm>
        </p:grpSpPr>
        <p:sp>
          <p:nvSpPr>
            <p:cNvPr id="475" name="Google Shape;475;p32"/>
            <p:cNvSpPr/>
            <p:nvPr/>
          </p:nvSpPr>
          <p:spPr>
            <a:xfrm>
              <a:off x="0" y="0"/>
              <a:ext cx="5238900" cy="36195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2"/>
            <p:cNvSpPr txBox="1"/>
            <p:nvPr/>
          </p:nvSpPr>
          <p:spPr>
            <a:xfrm>
              <a:off x="285750" y="285750"/>
              <a:ext cx="4667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6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Architettura MVVM e Reattività</a:t>
              </a:r>
              <a:endParaRPr b="0" sz="16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Xplore dimostra una padronanza completa dello stack moderno Android. L'app separa rigorosamente l'interfaccia dalla logica di business applicando l'architettura MVVM.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900"/>
                </a:spcAft>
                <a:buNone/>
              </a:pP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L'integrazione di Jetpack Compose, Room e Kotlin Flow crea un ecosistema totalmente reattivo, garantendo un'interfaccia utente sempre aggiornata e una gestione fluida dello stato.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7" name="Google Shape;477;p32"/>
            <p:cNvSpPr/>
            <p:nvPr/>
          </p:nvSpPr>
          <p:spPr>
            <a:xfrm>
              <a:off x="5524500" y="0"/>
              <a:ext cx="2857500" cy="1714500"/>
            </a:xfrm>
            <a:prstGeom prst="roundRect">
              <a:avLst>
                <a:gd fmla="val 8888" name="adj"/>
              </a:avLst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2"/>
            <p:cNvSpPr txBox="1"/>
            <p:nvPr/>
          </p:nvSpPr>
          <p:spPr>
            <a:xfrm>
              <a:off x="5762625" y="238125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DBEAFE"/>
                  </a:solidFill>
                  <a:latin typeface="Inter"/>
                  <a:ea typeface="Inter"/>
                  <a:cs typeface="Inter"/>
                  <a:sym typeface="Inter"/>
                </a:rPr>
                <a:t>TRACCIAMENTO ASINCRONO</a:t>
              </a:r>
              <a:endParaRPr b="1" sz="1000">
                <a:solidFill>
                  <a:srgbClr val="DBEAF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it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Garantito da Foreground Service e Coroutine, ottimizzando l'uso dei sensori hardware.</a:t>
              </a:r>
              <a:endParaRPr b="0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9" name="Google Shape;479;p32"/>
            <p:cNvSpPr/>
            <p:nvPr/>
          </p:nvSpPr>
          <p:spPr>
            <a:xfrm>
              <a:off x="5524500" y="1905000"/>
              <a:ext cx="2857500" cy="1714500"/>
            </a:xfrm>
            <a:prstGeom prst="roundRect">
              <a:avLst>
                <a:gd fmla="val 8888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2"/>
            <p:cNvSpPr txBox="1"/>
            <p:nvPr/>
          </p:nvSpPr>
          <p:spPr>
            <a:xfrm>
              <a:off x="5762625" y="2143125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RISULTATO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it" sz="120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Un'applicazione robusta, scalabile e pronta per future evoluzioni.</a:t>
              </a:r>
              <a:endParaRPr b="0" sz="12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481" name="Google Shape;481;p32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39050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33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487" name="Google Shape;487;p33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3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08" y="0"/>
                    <a:pt x="0" y="20000"/>
                    <a:pt x="0" y="46661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1"/>
                  </a:cubicBezTo>
                  <a:cubicBezTo>
                    <a:pt x="120000" y="20000"/>
                    <a:pt x="94292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3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3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491" name="Google Shape;491;p33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2" name="Google Shape;492;p33"/>
          <p:cNvSpPr txBox="1"/>
          <p:nvPr/>
        </p:nvSpPr>
        <p:spPr>
          <a:xfrm>
            <a:off x="381000" y="1912125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Grazie per l'Attenzione!</a:t>
            </a:r>
            <a:endParaRPr b="1" sz="36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33"/>
          <p:cNvSpPr txBox="1"/>
          <p:nvPr/>
        </p:nvSpPr>
        <p:spPr>
          <a:xfrm>
            <a:off x="381000" y="248362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it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ono</a:t>
            </a:r>
            <a:r>
              <a:rPr b="0" lang="it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 disposizione per domande e approfondimenti sul progetto Xplore.</a:t>
            </a:r>
            <a:endParaRPr b="0" sz="14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4" name="Google Shape;494;p33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39050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